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7"/>
  </p:notesMasterIdLst>
  <p:sldIdLst>
    <p:sldId id="417" r:id="rId5"/>
    <p:sldId id="256" r:id="rId6"/>
    <p:sldId id="262" r:id="rId8"/>
    <p:sldId id="263" r:id="rId9"/>
    <p:sldId id="264" r:id="rId10"/>
    <p:sldId id="265" r:id="rId11"/>
    <p:sldId id="398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399" r:id="rId29"/>
    <p:sldId id="266" r:id="rId30"/>
    <p:sldId id="41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  <p:sldId id="292" r:id="rId57"/>
    <p:sldId id="293" r:id="rId58"/>
    <p:sldId id="294" r:id="rId59"/>
    <p:sldId id="295" r:id="rId60"/>
    <p:sldId id="296" r:id="rId61"/>
    <p:sldId id="297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319" r:id="rId81"/>
    <p:sldId id="320" r:id="rId82"/>
    <p:sldId id="321" r:id="rId83"/>
    <p:sldId id="322" r:id="rId84"/>
    <p:sldId id="323" r:id="rId85"/>
    <p:sldId id="324" r:id="rId86"/>
    <p:sldId id="325" r:id="rId87"/>
    <p:sldId id="326" r:id="rId88"/>
    <p:sldId id="327" r:id="rId89"/>
    <p:sldId id="328" r:id="rId90"/>
    <p:sldId id="329" r:id="rId91"/>
    <p:sldId id="330" r:id="rId92"/>
    <p:sldId id="331" r:id="rId93"/>
    <p:sldId id="332" r:id="rId94"/>
    <p:sldId id="333" r:id="rId95"/>
    <p:sldId id="334" r:id="rId96"/>
    <p:sldId id="335" r:id="rId97"/>
    <p:sldId id="336" r:id="rId98"/>
    <p:sldId id="337" r:id="rId99"/>
    <p:sldId id="338" r:id="rId100"/>
    <p:sldId id="339" r:id="rId101"/>
    <p:sldId id="340" r:id="rId102"/>
    <p:sldId id="341" r:id="rId103"/>
    <p:sldId id="342" r:id="rId104"/>
    <p:sldId id="343" r:id="rId105"/>
    <p:sldId id="344" r:id="rId106"/>
    <p:sldId id="345" r:id="rId107"/>
    <p:sldId id="346" r:id="rId108"/>
    <p:sldId id="347" r:id="rId109"/>
    <p:sldId id="348" r:id="rId110"/>
    <p:sldId id="349" r:id="rId111"/>
    <p:sldId id="350" r:id="rId112"/>
    <p:sldId id="351" r:id="rId113"/>
    <p:sldId id="352" r:id="rId114"/>
    <p:sldId id="353" r:id="rId115"/>
    <p:sldId id="354" r:id="rId116"/>
    <p:sldId id="355" r:id="rId117"/>
    <p:sldId id="356" r:id="rId118"/>
    <p:sldId id="357" r:id="rId119"/>
    <p:sldId id="358" r:id="rId120"/>
    <p:sldId id="359" r:id="rId121"/>
    <p:sldId id="365" r:id="rId122"/>
    <p:sldId id="366" r:id="rId123"/>
    <p:sldId id="367" r:id="rId124"/>
    <p:sldId id="368" r:id="rId125"/>
    <p:sldId id="369" r:id="rId126"/>
    <p:sldId id="370" r:id="rId127"/>
    <p:sldId id="371" r:id="rId128"/>
    <p:sldId id="372" r:id="rId129"/>
    <p:sldId id="373" r:id="rId130"/>
    <p:sldId id="374" r:id="rId131"/>
    <p:sldId id="375" r:id="rId132"/>
    <p:sldId id="376" r:id="rId133"/>
    <p:sldId id="377" r:id="rId134"/>
    <p:sldId id="378" r:id="rId135"/>
    <p:sldId id="379" r:id="rId136"/>
    <p:sldId id="380" r:id="rId137"/>
    <p:sldId id="381" r:id="rId138"/>
    <p:sldId id="382" r:id="rId139"/>
    <p:sldId id="383" r:id="rId140"/>
    <p:sldId id="384" r:id="rId141"/>
    <p:sldId id="385" r:id="rId142"/>
    <p:sldId id="386" r:id="rId143"/>
    <p:sldId id="387" r:id="rId144"/>
    <p:sldId id="388" r:id="rId145"/>
    <p:sldId id="389" r:id="rId146"/>
    <p:sldId id="390" r:id="rId147"/>
    <p:sldId id="391" r:id="rId148"/>
    <p:sldId id="392" r:id="rId149"/>
    <p:sldId id="393" r:id="rId150"/>
    <p:sldId id="394" r:id="rId151"/>
    <p:sldId id="395" r:id="rId152"/>
    <p:sldId id="396" r:id="rId153"/>
    <p:sldId id="397" r:id="rId15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0" y="4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2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7" Type="http://schemas.openxmlformats.org/officeDocument/2006/relationships/tableStyles" Target="tableStyles.xml"/><Relationship Id="rId156" Type="http://schemas.openxmlformats.org/officeDocument/2006/relationships/viewProps" Target="viewProps.xml"/><Relationship Id="rId155" Type="http://schemas.openxmlformats.org/officeDocument/2006/relationships/presProps" Target="presProps.xml"/><Relationship Id="rId154" Type="http://schemas.openxmlformats.org/officeDocument/2006/relationships/slide" Target="slides/slide149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0" Type="http://schemas.openxmlformats.org/officeDocument/2006/relationships/slide" Target="slides/slide145.xml"/><Relationship Id="rId15" Type="http://schemas.openxmlformats.org/officeDocument/2006/relationships/slide" Target="slides/slide10.xml"/><Relationship Id="rId149" Type="http://schemas.openxmlformats.org/officeDocument/2006/relationships/slide" Target="slides/slide144.xml"/><Relationship Id="rId148" Type="http://schemas.openxmlformats.org/officeDocument/2006/relationships/slide" Target="slides/slide143.xml"/><Relationship Id="rId147" Type="http://schemas.openxmlformats.org/officeDocument/2006/relationships/slide" Target="slides/slide142.xml"/><Relationship Id="rId146" Type="http://schemas.openxmlformats.org/officeDocument/2006/relationships/slide" Target="slides/slide141.xml"/><Relationship Id="rId145" Type="http://schemas.openxmlformats.org/officeDocument/2006/relationships/slide" Target="slides/slide140.xml"/><Relationship Id="rId144" Type="http://schemas.openxmlformats.org/officeDocument/2006/relationships/slide" Target="slides/slide139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14" Type="http://schemas.openxmlformats.org/officeDocument/2006/relationships/slide" Target="slides/slide9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" Type="http://schemas.openxmlformats.org/officeDocument/2006/relationships/slide" Target="slides/slide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" Type="http://schemas.openxmlformats.org/officeDocument/2006/relationships/slide" Target="slides/slide7.xml"/><Relationship Id="rId119" Type="http://schemas.openxmlformats.org/officeDocument/2006/relationships/slide" Target="slides/slide114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110" Type="http://schemas.openxmlformats.org/officeDocument/2006/relationships/slide" Target="slides/slide105.xml"/><Relationship Id="rId11" Type="http://schemas.openxmlformats.org/officeDocument/2006/relationships/slide" Target="slides/slide6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" hasCustomPrompt="1"/>
          </p:nvPr>
        </p:nvSpPr>
        <p:spPr>
          <a:xfrm>
            <a:off x="254635" y="908685"/>
            <a:ext cx="6450330" cy="1102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" hasCustomPrompt="1"/>
          </p:nvPr>
        </p:nvSpPr>
        <p:spPr>
          <a:xfrm>
            <a:off x="529590" y="2011046"/>
            <a:ext cx="5758180" cy="6991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5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225429" y="0"/>
            <a:ext cx="7985125" cy="7064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"/>
          </p:nvPr>
        </p:nvSpPr>
        <p:spPr>
          <a:xfrm>
            <a:off x="225425" y="706440"/>
            <a:ext cx="6115050" cy="40608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>
              <a:lnSpc>
                <a:spcPct val="15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1047750" indent="-304800"/>
            <a:lvl3pPr marL="1397000" indent="-254000"/>
            <a:lvl4pPr marL="1854200" indent="-254000"/>
            <a:lvl5pPr marL="2260600" indent="-203200"/>
            <a:lvl6pPr marL="2667000" indent="-203200"/>
            <a:lvl7pPr marL="3073400" indent="-203200"/>
            <a:lvl8pPr marL="3479800" indent="-203200"/>
            <a:lvl9pPr marL="3886200" indent="-203200"/>
          </a:lstStyle>
          <a:p>
            <a:pPr marL="342900" indent="-3429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742950" lvl="1" indent="-28575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225425" y="0"/>
            <a:ext cx="7985125" cy="7064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210189" y="0"/>
            <a:ext cx="8000365" cy="735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xfrm>
            <a:off x="225425" y="706122"/>
            <a:ext cx="6115050" cy="40608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>
              <a:lnSpc>
                <a:spcPct val="15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1047750" indent="-304800"/>
            <a:lvl3pPr marL="1397000" indent="-254000"/>
            <a:lvl4pPr marL="1854200" indent="-254000"/>
            <a:lvl5pPr marL="2260600" indent="-203200"/>
            <a:lvl6pPr marL="2667000" indent="-203200"/>
            <a:lvl7pPr marL="3073400" indent="-203200"/>
            <a:lvl8pPr marL="3479800" indent="-203200"/>
            <a:lvl9pPr marL="3886200" indent="-203200"/>
          </a:lstStyle>
          <a:p>
            <a:pPr marL="342900" indent="-3429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742950" lvl="1" indent="-28575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内容">
    <p:bg>
      <p:bgPr>
        <a:solidFill>
          <a:srgbClr val="0B655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" hasCustomPrompt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>
              <a:lnSpc>
                <a:spcPct val="15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1047750" indent="-304800"/>
            <a:lvl3pPr marL="1397000" indent="-254000"/>
            <a:lvl4pPr marL="1854200" indent="-254000"/>
            <a:lvl5pPr marL="2260600" indent="-203200"/>
            <a:lvl6pPr marL="2667000" indent="-203200"/>
            <a:lvl7pPr marL="3073400" indent="-203200"/>
            <a:lvl8pPr marL="3479800" indent="-203200"/>
            <a:lvl9pPr marL="3886200" indent="-203200"/>
          </a:lstStyle>
          <a:p>
            <a:pPr marL="342900" indent="-3429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742950" lvl="1" indent="-28575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50000"/>
              </a:lnSpc>
              <a:buClr>
                <a:srgbClr val="FFFFFF"/>
              </a:buClr>
              <a:buFont typeface="Wingdings" panose="05000000000000000000"/>
              <a:buChar char="Ø"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2025/9/19</a:t>
            </a:r>
            <a:endParaRPr lang="en-US" sz="20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  <a:t>Footer</a:t>
            </a:r>
            <a:endParaRPr lang="en-US" sz="2000" b="0" i="0" u="none" strike="noStrike">
              <a:solidFill>
                <a:srgbClr val="0000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Franklin Gothic Book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fld id="{74ED3E32-B8DA-4F06-BF14-1676641E27B9}" type="slidenum">
              <a:rPr sz="1800" b="0" i="0" u="none" strike="noStrike">
                <a:solidFill>
                  <a:srgbClr val="00000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rPr>
            </a:fld>
            <a:endParaRPr sz="1800" b="0" i="0" u="none" strike="noStrike">
              <a:solidFill>
                <a:srgbClr val="000000"/>
              </a:solidFill>
              <a:latin typeface="Franklin Gothic Book"/>
              <a:ea typeface="Franklin Gothic Book"/>
              <a:cs typeface="Franklin Gothic Book"/>
              <a:sym typeface="Franklin Gothic Book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553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8664575" y="4838700"/>
            <a:ext cx="37147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fld id="{591B600F-D918-4E2C-87B1-850BB1CDC10D}" type="slidenum">
              <a:rPr sz="12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100"/>
          </a:p>
        </p:txBody>
      </p:sp>
      <p:sp>
        <p:nvSpPr>
          <p:cNvPr id="2" name="AutoShape 2"/>
          <p:cNvSpPr/>
          <p:nvPr/>
        </p:nvSpPr>
        <p:spPr>
          <a:xfrm>
            <a:off x="3732213" y="4838700"/>
            <a:ext cx="1800225" cy="3079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隶书"/>
                <a:ea typeface="隶书"/>
                <a:cs typeface="隶书"/>
                <a:sym typeface="隶书"/>
              </a:rPr>
              <a:t>技术支持：木叶网络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6515" y="712470"/>
            <a:ext cx="8957945" cy="23069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 defTabSz="914400">
              <a:lnSpc>
                <a:spcPct val="150000"/>
              </a:lnSpc>
            </a:pPr>
            <a:r>
              <a:rPr lang="zh-CN" altLang="en-US" sz="4800" b="1" kern="1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广州大学易普教学点成人高考</a:t>
            </a:r>
            <a:endParaRPr lang="zh-CN" altLang="en-US" sz="4800" b="1" kern="1200" baseline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algn="ctr" defTabSz="914400">
              <a:lnSpc>
                <a:spcPct val="150000"/>
              </a:lnSpc>
            </a:pPr>
            <a:r>
              <a:rPr lang="zh-CN" altLang="en-US" sz="4800" b="1" kern="1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考前辅导讲座</a:t>
            </a:r>
            <a:endParaRPr lang="zh-CN" altLang="en-US" sz="4800" b="1" kern="120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23005" y="366903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 kern="12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2026.10.11</a:t>
            </a:r>
            <a:endParaRPr lang="en-US" altLang="zh-CN" sz="2000" b="1" kern="12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5288" y="1454150"/>
            <a:ext cx="4897438" cy="9731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15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课程名称：专升本-英语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8313" y="3081338"/>
            <a:ext cx="2808287" cy="666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403225" y="2398713"/>
            <a:ext cx="3881438" cy="461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主讲老师：</a:t>
            </a: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何颖瑜 </a:t>
            </a:r>
            <a:r>
              <a:rPr lang="en-US" sz="2400" b="1" i="0" u="none" strike="noStrike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Kaylee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-468312" y="627063"/>
            <a:ext cx="6985000" cy="973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冲刺班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60375" y="902365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i="0" u="none" strike="noStrike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一、试卷题型与分值构成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36525" y="0"/>
            <a:ext cx="812038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1.1 </a:t>
            </a: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试卷结构</a:t>
            </a: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 </a:t>
            </a: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（满分</a:t>
            </a: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/>
              </a:rPr>
              <a:t> 150 </a:t>
            </a: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分，考试时间</a:t>
            </a:r>
            <a:r>
              <a:rPr lang="en-US" sz="2400" b="1" i="0" u="none" strike="noStrike">
                <a:solidFill>
                  <a:srgbClr val="FFF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150 </a:t>
            </a: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分钟）</a:t>
            </a:r>
            <a:endParaRPr lang="en-US" sz="24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44805" y="728345"/>
          <a:ext cx="8344535" cy="39509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56640"/>
                <a:gridCol w="1724660"/>
                <a:gridCol w="788670"/>
                <a:gridCol w="1193800"/>
                <a:gridCol w="1164590"/>
                <a:gridCol w="1381125"/>
                <a:gridCol w="1035050"/>
              </a:tblGrid>
              <a:tr h="55816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题号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题型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题量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单分值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总分值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用时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总时长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68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一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语音知识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5mins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150mins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二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 err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词汇语法</a:t>
                      </a:r>
                      <a:endParaRPr lang="en-US" sz="1800" b="1" i="0" u="none" strike="noStrike" dirty="0" err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15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15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15mins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76542" marR="76542" marT="28661" marB="28661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16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三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完形填空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15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20mins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四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阅读理解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20(5)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60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60mins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76542" marR="76542" marT="28661" marB="28661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五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补全对话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（选择）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5530" marB="2553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15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10mins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76542" marR="76542" marT="28661" marB="28661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309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六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书面表达</a:t>
                      </a: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100</a:t>
                      </a: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字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25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25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35mins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563" marR="76563" marT="28662" marB="2866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76564" marR="76564" marT="28664" marB="286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87018" y="137420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en-US" sz="3600" b="1" i="0" u="none" strike="noStrike" dirty="0" err="1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语音知识</a:t>
            </a:r>
            <a:endParaRPr 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675005" y="1219835"/>
            <a:ext cx="7640320" cy="1073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语音题近年都比较基础，难度较低，属于送分小题</a:t>
            </a:r>
            <a:endParaRPr lang="zh-CN" altLang="en-US" sz="24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2430" y="162560"/>
            <a:ext cx="485076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小试牛刀：语音知识</a:t>
            </a:r>
            <a:endParaRPr lang="en-US" sz="2800" b="1" i="0" u="none" strike="noStrike" dirty="0" err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6609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211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4320" y="274320"/>
            <a:ext cx="859502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33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dirty="0"/>
          </a:p>
          <a:p>
            <a:pPr marL="0" indent="0" defTabSz="914400">
              <a:lnSpc>
                <a:spcPct val="200000"/>
              </a:lnSpc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           ) 1.  A. p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       B. f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      C. gr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ndson      D. re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son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defTabSz="914400">
              <a:lnSpc>
                <a:spcPct val="200000"/>
              </a:lnSpc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           ) 2.  A. lun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B. stoma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C. tou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D. spee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</a:t>
            </a:r>
            <a:endParaRPr lang="en-US" sz="2000" b="1" i="0" u="sng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defTabSz="914400">
              <a:lnSpc>
                <a:spcPct val="200000"/>
              </a:lnSpc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           ) 3.  A. bom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B. tom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C. clim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er      D. num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er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defTabSz="914400">
              <a:lnSpc>
                <a:spcPct val="200000"/>
              </a:lnSpc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           ) 4.  A. 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live      B. 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ware      C. 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gent      D. 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ttract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defTabSz="914400">
              <a:lnSpc>
                <a:spcPct val="200000"/>
              </a:lnSpc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           ) 5.  A. f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our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B. h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our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C. s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our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D. </a:t>
            </a:r>
            <a:r>
              <a:rPr lang="en-US" sz="20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our</a:t>
            </a:r>
            <a:endParaRPr lang="en-US" sz="2000" b="1" i="0" u="sng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33000"/>
              </a:lnSpc>
            </a:pPr>
            <a:endParaRPr sz="2800" dirty="0"/>
          </a:p>
          <a:p>
            <a:pPr marL="0" indent="0" algn="l" defTabSz="914400">
              <a:lnSpc>
                <a:spcPct val="133000"/>
              </a:lnSpc>
            </a:pPr>
            <a:endParaRPr sz="2800" dirty="0"/>
          </a:p>
          <a:p>
            <a:pPr marL="0" indent="0" algn="l" defTabSz="914400">
              <a:lnSpc>
                <a:spcPct val="133000"/>
              </a:lnSpc>
            </a:pP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74139" y="-192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i="0" u="none" strike="noStrike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308224" y="708222"/>
            <a:ext cx="77017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语法覆盖面广，虚拟语气、倒装、定语从句、非谓语是高频难点</a:t>
            </a:r>
            <a:endParaRPr lang="en-US" altLang="zh-CN" sz="18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时态：过去完成时、过去进行时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虚拟语气：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require/suggest that sb (should) do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定语从句关系词：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who/whose/which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非谓语动词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5.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形容词最高级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6.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动词短语辨析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7.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介词固定搭配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8.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让步状语从句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wherever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79545" y="2369820"/>
            <a:ext cx="5218430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主语从句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what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名词词义辨析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12.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表语从句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13.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情态动词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14.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倒装句 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no sooner…had done…than</a:t>
            </a:r>
            <a:endParaRPr lang="en-US" altLang="zh-CN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490220" y="817245"/>
            <a:ext cx="82296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1. When the earthquake happened yesterday afternoon, the students ______ chemistry in the lab.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have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were having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had had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are having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3997745" y="356787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54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54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641797"/>
            <a:ext cx="81652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2. The teacher required that every student ______ the paper before Friday.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hands in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would hand in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hand in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handed in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571785" y="310305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60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</a:t>
            </a:r>
            <a:endParaRPr lang="en-US" sz="60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429295" y="946597"/>
            <a:ext cx="81652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3. The book ______ I bought yesterday is well worth reading.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who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whose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which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what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112045" y="267252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60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</a:t>
            </a:r>
            <a:endParaRPr lang="en-US" sz="60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4. My bike is broken and it really needs ______.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repaired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repairing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repair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to repair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012985" y="2316286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54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54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6. My alarm clock didn't ______ this morning, so I was late for school.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go off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go out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go up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go over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500665" y="239820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60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endParaRPr lang="en-US" sz="60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 I have been learning English ______ 2018.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for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since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in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from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904525" y="273729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54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54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8. The lecture will begin ______ 9 o'clock tomorrow morning.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in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on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at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for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5940845" y="2699826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66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</a:t>
            </a:r>
            <a:endParaRPr lang="en-US" sz="66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9. ______ you go in the future, please keep in touch with me.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Whatever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However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Wherever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Whoever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378745" y="2571556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72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</a:t>
            </a:r>
            <a:endParaRPr lang="en-US" sz="72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10. ______ he said at the meeting surprised everyone present.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That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What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Which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Whether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5181385" y="333927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60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60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11. The local government has taken a new ______ to reduce air pollution.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method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way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measure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mean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272065" y="325545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54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</a:t>
            </a:r>
            <a:endParaRPr lang="en-US" sz="54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12. The problem is ______ we can finish the work on time.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that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whether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what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which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3883445" y="3381816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54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54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13. You ______ hand in the report today; it can be given to me next Monday.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mustn't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needn't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can't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shouldn't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188245" y="336975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54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54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词汇语法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973" y="162560"/>
            <a:ext cx="87820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276895" y="946597"/>
            <a:ext cx="81652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14. No sooner ______ home than the telephone rang.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A. I had got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B. had I got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C. I got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D. did I get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2"/>
          <p:cNvSpPr txBox="1"/>
          <p:nvPr/>
        </p:nvSpPr>
        <p:spPr>
          <a:xfrm>
            <a:off x="4653065" y="2836351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4400" dirty="0">
                <a:solidFill>
                  <a:srgbClr val="FFFF00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4400" dirty="0">
              <a:solidFill>
                <a:srgbClr val="FFFF00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87018" y="137420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完形填空</a:t>
            </a:r>
            <a:endParaRPr 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347345" y="960755"/>
            <a:ext cx="75622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多考察人文类、故事成长类别，难度中等；重点考察</a:t>
            </a:r>
            <a:endParaRPr lang="zh-CN" altLang="en-US" sz="24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上下文逻辑，词语辨析，固定搭配，不是单纯考单词。</a:t>
            </a:r>
            <a:endParaRPr lang="zh-CN" altLang="en-US" sz="24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55435" y="459996"/>
            <a:ext cx="8928100" cy="34461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It was a cold winter morning.  A young man named Jack stood at the starting line of a long race. </a:t>
            </a:r>
            <a:endParaRPr lang="en-US" b="1" i="0" u="none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 had trained for months, but his heart was beating fast </a:t>
            </a:r>
            <a:r>
              <a:rPr lang="en-US" b="1" i="0" u="sng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1　 </a:t>
            </a: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 had never run in such an </a:t>
            </a:r>
            <a:endParaRPr lang="en-US" b="1" i="0" u="none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important race before. "Are you ready?" the organizer asked. Jack nodded, but his hands </a:t>
            </a:r>
            <a:endParaRPr lang="en-US" b="1" i="0" u="none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were </a:t>
            </a:r>
            <a:r>
              <a:rPr lang="en-US" b="1" i="0" u="sng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2　</a:t>
            </a: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He looked at the other runners. They all seemed </a:t>
            </a:r>
            <a:r>
              <a:rPr lang="en-US" b="1" i="0" u="sng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3　 </a:t>
            </a: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and experienced. Jack felt </a:t>
            </a:r>
            <a:endParaRPr lang="en-US" b="1" i="0" u="none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small and afraid. The starting gun sounded. The runners </a:t>
            </a:r>
            <a:r>
              <a:rPr lang="en-US" b="1" i="0" u="sng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4　 </a:t>
            </a: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forward quickly. </a:t>
            </a:r>
            <a:endParaRPr lang="en-US" b="1" i="0" u="none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dirty="0">
                <a:solidFill>
                  <a:srgbClr val="FFFFFF"/>
                </a:solidFill>
              </a:rPr>
              <a:t>        </a:t>
            </a: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 first, Jack kept up with the front runners. </a:t>
            </a:r>
            <a:r>
              <a:rPr lang="en-US" b="1" i="0" u="sng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5　 </a:t>
            </a: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after a few kilometers, his legs became heavy </a:t>
            </a:r>
            <a:endParaRPr lang="en-US" b="1" i="0" u="none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and his breath was short. He wanted to stop, </a:t>
            </a:r>
            <a:r>
              <a:rPr lang="en-US" b="1" i="0" u="sng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6　 </a:t>
            </a:r>
            <a:r>
              <a:rPr lang="en-US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 remembered why he was there.</a:t>
            </a:r>
            <a:endParaRPr lang="en-US" b="1" i="0" u="none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 A. so　B. because　C. unless　D. though</a:t>
            </a:r>
            <a:endParaRPr lang="en-US" b="1" i="0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A. shaking　B. waving　C. clapping　D. moving</a:t>
            </a:r>
            <a:endParaRPr lang="en-US" b="1" i="0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 A. nervous　B. confident　C. worried　D. silent</a:t>
            </a:r>
            <a:endParaRPr lang="en-US" b="1" i="0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 A. walked　B. rushed　C. climbed　D. swam</a:t>
            </a:r>
            <a:endParaRPr lang="en-US" b="1" i="0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30000"/>
              </a:lnSpc>
              <a:defRPr/>
            </a:pPr>
            <a:r>
              <a:rPr lang="en-US" b="1" i="0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 A. So　B. And　C. But　D. Or6A. or　B. for　C. so　D. but</a:t>
            </a:r>
            <a:endParaRPr lang="en-US" b="1" i="0" strike="noStrike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5" name="AutoShape 2"/>
          <p:cNvSpPr txBox="1"/>
          <p:nvPr/>
        </p:nvSpPr>
        <p:spPr>
          <a:xfrm>
            <a:off x="107950" y="14052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dirty="0" err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dirty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dirty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补全对话</a:t>
            </a:r>
            <a:endParaRPr lang="en-US" dirty="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87018" y="137420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阅读理解</a:t>
            </a:r>
            <a:endParaRPr 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347345" y="808355"/>
            <a:ext cx="815086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</a:rPr>
              <a:t>文体为记叙文，科普说明文，议论文，社会类文章等，话题贴近生活，没有极度生僻专业词汇，细节理解题题量最多、还有推理判断题、主旨大意题、词义猜测题</a:t>
            </a:r>
            <a:endParaRPr lang="zh-CN" altLang="en-US" sz="2800" b="1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</a:rPr>
              <a:t>题目顺序基本和原文顺序一致！！！</a:t>
            </a:r>
            <a:endParaRPr lang="zh-CN" altLang="en-US" sz="2800" b="1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87018" y="137420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i="0" u="none" strike="noStrike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补全对话</a:t>
            </a:r>
            <a:endParaRPr 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347505" y="960817"/>
            <a:ext cx="526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18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，考察情景交际用语，难度低。</a:t>
            </a:r>
            <a:endParaRPr lang="zh-CN" altLang="en-US" sz="1800" b="1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68313" y="525284"/>
            <a:ext cx="8928100" cy="42233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40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五、补全对话 </a:t>
            </a:r>
            <a:r>
              <a:rPr lang="en-US" sz="1600" b="1" i="0" u="none" strike="noStrike">
                <a:solidFill>
                  <a:srgbClr val="FFF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</a:t>
            </a: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八选五）</a:t>
            </a:r>
            <a:endParaRPr lang="en-US" sz="1200">
              <a:solidFill>
                <a:srgbClr val="FFFF00"/>
              </a:solidFill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A. What do you want?  B. Could you be waiting here?	C. Mr. Long is still in a meeting.</a:t>
            </a:r>
            <a:endParaRPr lang="en-US" sz="1600" b="1" i="0" u="none" strike="noStrik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D. I don't drink coffee.  E. You're welcome.  F. Mr. Long will be back tomorrow.	</a:t>
            </a:r>
            <a:endParaRPr lang="en-US" sz="1600" b="1" i="0" u="none" strike="noStrik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G. Just water, please.     H. Can I help you?	</a:t>
            </a:r>
            <a:endParaRPr lang="en-US" sz="1800" b="1" i="0" u="none" strike="noStrike">
              <a:solidFill>
                <a:srgbClr val="FFCC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Secretary: Good afternoon. </a:t>
            </a:r>
            <a:r>
              <a:rPr lang="en-US" sz="1600" b="1" i="0" u="sng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56          </a:t>
            </a: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1600" b="1" i="0" u="none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Yang: Yes,please.I'm Dennis Yang. I have an appointment with Mr.Long this afternoon. </a:t>
            </a:r>
            <a:endParaRPr lang="en-US" sz="1600" b="1" i="0" u="none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Secretary: Well,Mr.Yang, your appointment is at 3 p. m. </a:t>
            </a:r>
            <a:r>
              <a:rPr lang="en-US" sz="1600" b="1" i="0" u="sng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57          </a:t>
            </a: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endParaRPr lang="en-US" sz="1600" b="1" i="0" u="none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Yang: I'm sorry. I've come here too early. </a:t>
            </a:r>
            <a:endParaRPr lang="en-US" sz="1600" b="1" i="0" u="none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Secretary: It's Okay.</a:t>
            </a:r>
            <a:r>
              <a:rPr lang="en-US" sz="1600" b="1" i="0" u="sng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58          </a:t>
            </a: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1600" b="1" i="0" u="none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Yang: Sure.      Secretary : Would you like something to drink? Coffee,tea or water?</a:t>
            </a:r>
            <a:endParaRPr lang="en-US" sz="1600" b="1" i="0" u="none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Yang:  </a:t>
            </a:r>
            <a:r>
              <a:rPr lang="en-US" sz="1600" b="1" i="0" u="sng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59          </a:t>
            </a: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you.  </a:t>
            </a:r>
            <a:endParaRPr lang="en-US" sz="1600" b="1" i="0" u="none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Secretary :  </a:t>
            </a:r>
            <a:r>
              <a:rPr lang="en-US" sz="1600" b="1" i="0" u="sng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60. </a:t>
            </a:r>
            <a:endParaRPr lang="en-US" sz="1600" b="1" i="0" u="sng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7950" y="16652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4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2"/>
          <p:cNvSpPr txBox="1"/>
          <p:nvPr/>
        </p:nvSpPr>
        <p:spPr>
          <a:xfrm>
            <a:off x="107950" y="-100248"/>
            <a:ext cx="293137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000" b="1" i="0" u="none" strike="noStrike" cap="non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dirty="0" err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dirty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zh-CN" altLang="en-US" dirty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补全对话</a:t>
            </a:r>
            <a:endParaRPr lang="en-US" dirty="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87018" y="137420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写作</a:t>
            </a:r>
            <a:endParaRPr 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347345" y="960755"/>
            <a:ext cx="768604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常考书信类（申请信、建议信、感谢信），</a:t>
            </a:r>
            <a:endParaRPr lang="zh-CN" altLang="en-US" sz="2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格式、要点齐全是拿分关键。</a:t>
            </a:r>
            <a:endParaRPr lang="zh-CN" altLang="en-US" sz="2800" b="1" dirty="0">
              <a:solidFill>
                <a:srgbClr val="FFFF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12775" y="987425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i="0" u="none" strike="noStrike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二、重点</a:t>
            </a:r>
            <a:r>
              <a:rPr lang="en-US" sz="3600" b="1" i="0" u="none" strike="noStrike" dirty="0" err="1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语法知识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" y="1851660"/>
            <a:ext cx="822071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4290" y="19050"/>
            <a:ext cx="759587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5605" y="676275"/>
            <a:ext cx="6023610" cy="1871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3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/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a+单数量词+of+不可数名词</a:t>
            </a:r>
            <a:br>
              <a:rPr lang="en-US" sz="2800" b="1" i="0" u="none" strike="noStrike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 piece of chalk 一支粉笔</a:t>
            </a:r>
            <a:b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 bit of bread 一点面包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33000"/>
              </a:lnSpc>
            </a:pPr>
            <a:endParaRPr sz="2800"/>
          </a:p>
          <a:p>
            <a:pPr marL="0" indent="0" algn="l" defTabSz="914400">
              <a:lnSpc>
                <a:spcPct val="133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" y="1851660"/>
            <a:ext cx="8949055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4290" y="19050"/>
            <a:ext cx="826833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5605" y="676275"/>
            <a:ext cx="6556375" cy="1871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3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/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a+单数量词+of+复数可数名词</a:t>
            </a:r>
            <a:endParaRPr lang="en-US" sz="2800" b="1" i="0" u="none" strike="noStrike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 basket of eggs 一篮子鸡蛋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 group of children 一群孩子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33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" y="1851660"/>
            <a:ext cx="9130665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4290" y="19050"/>
            <a:ext cx="843661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5605" y="676275"/>
            <a:ext cx="6689725" cy="1871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3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/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数词+复数量词+of+复数可数名词</a:t>
            </a:r>
            <a:endParaRPr lang="en-US" sz="2800" b="1" i="0" u="none" strike="noStrike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two boxes of pens  两盒钢笔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two baskets of apples 两篮子苹果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33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" y="1851660"/>
            <a:ext cx="1036574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4290" y="19050"/>
            <a:ext cx="957770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5605" y="676275"/>
            <a:ext cx="7595235" cy="1871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3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/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数词+复数量词+of+不可数名词</a:t>
            </a:r>
            <a:endParaRPr lang="en-US" sz="2800" b="1" i="0" u="none" strike="noStrike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two glasses of milk  两杯牛奶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three cups of coffee  三杯咖啡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33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1155" y="1851660"/>
            <a:ext cx="9559925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83845" y="19050"/>
            <a:ext cx="883285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45160" y="676275"/>
            <a:ext cx="7004050" cy="1871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3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/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单数名词词尾+’s  表示所属</a:t>
            </a:r>
            <a:endParaRPr lang="en-US" sz="2800" b="1" i="0" u="none" strike="noStrike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the children’s toys  儿童玩具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today’s news 今天的新闻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33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" y="1851660"/>
            <a:ext cx="843915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4290" y="19050"/>
            <a:ext cx="779780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5605" y="676275"/>
            <a:ext cx="8276590" cy="1871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3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/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复数名词词尾(以 s 结尾)+ ’ 表示所属</a:t>
            </a:r>
            <a:endParaRPr lang="en-US" sz="2800" b="1" i="0" u="none" strike="noStrike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My  parents’hometown  is  very beautiful. 我父母的家乡非常美。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675068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74650" y="1203325"/>
            <a:ext cx="825881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A(+B...)+and + C+’s  表示两者或多者共 同拥有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Professor  Wang  is Li Ming and Li Ling’s mother.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王教授是李明和李玲的妈妈。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55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34290" y="-742950"/>
            <a:ext cx="6969125" cy="457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 sz="1800"/>
          </a:p>
        </p:txBody>
      </p:sp>
      <p:sp>
        <p:nvSpPr>
          <p:cNvPr id="4" name="AutoShape 4"/>
          <p:cNvSpPr/>
          <p:nvPr/>
        </p:nvSpPr>
        <p:spPr>
          <a:xfrm>
            <a:off x="308610" y="441325"/>
            <a:ext cx="8757285" cy="255397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A+’s(+B+’s...)+ and + C+’s </a:t>
            </a:r>
            <a:endParaRPr lang="en-US" sz="28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表示两者或多者分别拥有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Tim’s and Peter’s fathers both teach in the same school.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蒂姆的爸爸和彼得的爸爸在同一所学校教学。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46735" y="584200"/>
            <a:ext cx="826389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名词+of+名词 一般用于无生命事物的名 词，有时也可表示人或其他有生命事物的 名词间的所有关系。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The windows of that house are broken.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那间屋子的窗户破了。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2971" y="908323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名词+of+名词的’s 所有格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 I have only read four books of Dickens’.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我只看过狄更斯的四本书。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51485" y="955675"/>
            <a:ext cx="843534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many 等+复数可数名词 只修饰复数可数 名词的词或短语有 a great many ，quite a few 等。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He made a great many mistakes.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他犯了许多错误。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87325" y="628015"/>
            <a:ext cx="8956675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much 等+不可数名词 只修饰不可数名词的词或短语有 </a:t>
            </a:r>
            <a:endParaRPr lang="en-US" sz="1200">
              <a:solidFill>
                <a:srgbClr val="FFFF00"/>
              </a:solidFill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 good/great deal of ，a good/great/large amount of 等</a:t>
            </a:r>
            <a:endParaRPr lang="en-US" sz="24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We got little help from them.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我们没有从他们那儿得到什么帮助。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27660" y="450850"/>
            <a:ext cx="8349615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 lot of 等+ 复数可数名词/不可数名词既 可以修饰复数可数名词，也可以修饰不可数名词的词或短语有 plenty of， lots of， quantities of，a quantity of 等。</a:t>
            </a:r>
            <a:endParaRPr lang="en-US" sz="1200">
              <a:solidFill>
                <a:srgbClr val="FFFF00"/>
              </a:solidFill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Some  police  officers  in  the  UK  carry guns, but most of them don’t.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在英国，一些警官带枪，但大多数不带。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3946" y="102833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a/an+单数可数名词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 square has four sides. 正方形有四条边</a:t>
            </a: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28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18135" y="631825"/>
            <a:ext cx="818769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the+单数可数名词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The  tiger  is  without  doubt  the  most magnificent of the big cats.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老虎无疑是大型猫科动物中最威武的。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32435" y="831850"/>
            <a:ext cx="8292465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零冠词+复数可数名词/不可数名词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Plastic is hard to break up. 塑料很难分解。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54330" y="841375"/>
            <a:ext cx="843534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a/an+单数可数名词表示泛指、初次提到\“一；每”等意义。</a:t>
            </a:r>
            <a:endParaRPr lang="en-US" sz="1200"/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He was born in  a  small  mountainous village in Guizhou Province.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他出生在贵州省的一个小山村里。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46710" y="908050"/>
            <a:ext cx="825500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a/an+专有名词表示具有某种特性的人或物、某一个不认识的人或不确定的时间。</a:t>
            </a:r>
            <a:endParaRPr lang="en-US" sz="1200"/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The story took place in an October in the 1980s.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这个故事发生在 20 世纪 80 年代一个 10月。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4871" y="774973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a/an+抽象名词 当抽象名词表示具体的 人或事物，或表示引起人们某种情绪、情感的人或事时，视为可数名词，可用不定冠词修饰。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Working with Jane is a great joy.    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和简一起工作是一件很快乐的事情。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13995" y="765175"/>
            <a:ext cx="878713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a/an+物质名词如 fog ， rain ， snow，wind 等前面用不定冠词，表示“ 一 … …”之意。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 I ’d like a coffee and a chicken sandwich, sir.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先生，我要一杯咖啡和一个鸡肉三明治。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1" y="63209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the+名词 特指上文提到过的、特定的或谈话双方都熟悉的人或事物。</a:t>
            </a:r>
            <a:endParaRPr lang="en-US" sz="1200"/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 visited a church in Jinan.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 church was built in the early 1900s.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我在济南参观了一座教堂。这座教堂建于 20 世纪初。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75285" y="774700"/>
            <a:ext cx="801624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 + sun/earth 等 表示自然界独一无二的事物的名词前要用定冠词。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As  time  goes  on,  we  will  know  more about the Mars.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随着时间的推移，我们对火星的了解会更多。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4871" y="1117873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the+方位名词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from the behind 从后面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to the right 朝右边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460" y="1203325"/>
            <a:ext cx="8244840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the+形容词或分词 表示一类人、事物或抽象概念。</a:t>
            </a:r>
            <a:endParaRPr lang="en-US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The new is to take the place of the old. 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新事物最终会取代旧事物。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1" y="120359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the+乐器、娱乐活动等类的名词 在表示被演奏的西洋乐器、文艺活动或运动场所的名词前用定冠词。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 play the guitar in the school band.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我在学校乐队里面弹吉他。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1" y="120359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动词+sb.+介词+the+身体部位 表示身体 部位的名词前要用定冠词 the。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The father led his daughter by the hand and walked into the supermarket.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爸爸牵着女儿的手走进了超市。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1" y="120359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such/what/half + a/an(+ 形容词) + 单数可数名词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He has never written such an interesting book as that.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他从未写过像那本书一样那么有趣的书。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1" y="120359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that/as/so/too/how/enough+形容词+a/an+单数可数名词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Lily is too young a child to be left by herself at home.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莉莉还太小，不能把她单独留在家里。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1" y="120359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quite/rather + a/an(+形容词)+名词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 I had quite/rather an easy test yesterday.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我昨天的考试很简单。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1" y="120359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all/both/double/half/twice 等+the+名词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All the students in the class went out.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班里所有的学生都出去了。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1" y="120359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 + be/</a:t>
            </a:r>
            <a:r>
              <a:rPr lang="en-US" sz="2000" b="1" i="0" u="none" strike="noStrike" dirty="0" err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get+形容词</a:t>
            </a:r>
            <a:r>
              <a:rPr lang="en-US" sz="2000" b="1" i="0" u="none" strike="noStrike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en-US" sz="2000" b="1" i="0" u="none" strike="noStrike" dirty="0" err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名词</a:t>
            </a:r>
            <a:r>
              <a:rPr lang="en-US" sz="2000" b="1" i="0" u="none" strike="noStrike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en-US" sz="2000" b="1" i="0" u="none" strike="noStrike" dirty="0" err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介词短语</a:t>
            </a:r>
            <a:r>
              <a:rPr lang="en-US" sz="2000" b="1" i="0" u="none" strike="noStrike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2000" b="1" i="0" u="none" strike="noStrike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1" i="0" u="none" strike="noStrike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 </a:t>
            </a:r>
            <a:r>
              <a:rPr lang="en-US" sz="2000" b="1" i="0" u="none" strike="noStrike" dirty="0" err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用作非人称代词时，常表示天气、日期、时间、距离、温度等</a:t>
            </a:r>
            <a:r>
              <a:rPr lang="en-US" sz="2000" b="1" i="0" u="none" strike="noStrike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100" dirty="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It gets colder and colder. 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天气变得越来越冷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65760" y="405130"/>
            <a:ext cx="8273415" cy="2553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40000"/>
              </a:lnSpc>
              <a:defRPr/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It+be+被强调部分+that...构成强调句,强调句子的主语、宾语、状语。被强调部分指人时，that可以换成who，其他情况 一律用that。</a:t>
            </a:r>
            <a:endParaRPr lang="en-US" sz="1200"/>
          </a:p>
          <a:p>
            <a:pPr marL="0" indent="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It  was  not  until  I  came  here  that  I realized  this  place  was  famous  for  not only its beauty but also its weather.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直到我来到了这里我才意识到这个地方不仅以美景闻名，而且它的天气也很有名。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It+be+形容词(+for sb.)+to do sth.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It is very important for us to master the skills of computers.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对于我们来说，掌握计算机技能是非常重 要的。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It+be+no use/no good+doing  sth. 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意为 “做… 是没用的” ，动名词是真正的主语,it 是形式主语。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It is no good turning to him.  He is always indifferent towards others’ matters.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向他求助没用，他对别人的事总是漠不关 心。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It+be+过去分词+that 从句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It is required in the regulations that you should not   tell other people the password of your e-mail account.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按照规定你不能把自己电子邮箱的密码 告诉别人。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8"/>
            <a:ext cx="7416824" cy="25539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It+be+名词+ 不定式/that 从句 it 作形式主语，后面的不定式或 that 从句是句子的真正主语。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It is an honour for me to be invited to speak here.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我很荣幸应邀在这里讲话。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770485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It+be+形容词+that 从句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It is obvious that he doesn’t know how to repair a car.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很明显，他不知道怎样修理汽车。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770485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It+某些动词+that 从句 常用于该公式的动词有 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appear ，seem ，happen 等。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It appears that all the files have been deleted.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所有的档案好像都已经被删除了。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55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32213" y="4838700"/>
            <a:ext cx="1800225" cy="3079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隶书"/>
                <a:ea typeface="隶书"/>
                <a:cs typeface="隶书"/>
                <a:sym typeface="隶书"/>
              </a:rPr>
              <a:t>技术支持：木叶网络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51520" y="843559"/>
            <a:ext cx="7704856" cy="252027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It+be+(high) time... 主语从句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Now it is time for me to study hard.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现在是我努力学习的时候了。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770485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It+is/has been+时间段+since...主语连系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It is three months since they completed the great project.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他们完成这项大工程已经 3 个月了。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endParaRPr sz="20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770485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It+was/will be+时间段+before... 意为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“过 多长时间才… ；还要多长时间才…”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 was several minutes before we realized what was happening.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几分钟后我们才明白发生了什么事情。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主语+谓语动词+it+补足语+真正宾语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 thought it appropriate to invite her to speak at the meeting.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我认为邀请她在会上发言是合理的。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名词+of+形容词性物主代词+own 意为 “完全属于自己的… … ， 自己的… 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 There is only one success in the world—to  be  able  to  spend  your life  in your own way.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世界上只有一种成功,那就是能够用自己的方式度过一生。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one...,  the  other... 意 为 “( 两 者 中 的 ) 一 个… … ，另一个… …”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He has two sons. One is a doctor and the other is a soldier.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他有两个儿子。一个是医生，另一个是军 人。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endParaRPr sz="20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some..., others...意为“（不确定范围中的） 一些… … ，另一些… …”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Some  boys  are  playing  football,  and others are playing basketball.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一些男孩子在踢足球，另外一些在打篮球。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some... ， the others...意为“（确定范围中 的）一些… … ，其余的… 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 Of these students,  some are from Peking University,  and  the  others  are from Tsinghua University.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这些学生中，一些来自北京大学，其余的来自清华大学。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one...another...(the other...)意为“(三者以 上 中 的)一个 … … ，( 一个……) ， 另一 个……”。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The old man’s three daughters are all abroad. One is in the US,  another is in England  and  the  other  seems  to  be  in France.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这位老人的三个女儿都在国外。一个在美 国，一个在英国，另外一个好像在法国。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(a) few/many(+复数可数名词)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(b) little/much(+不可数名词)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I  have  got  a  few  friends  who  live nearby.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我有几个住在附近的朋友。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endParaRPr sz="20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such+be...  be 的单复数形式由其后的名词 或代词决定。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Such were her wishes.这就是她的愿望。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endParaRPr sz="20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none(+of+复数可数名词或不可数名词） no one  ，none 指代指人或物的可数名词 或不可数名词，后面可以跟 of 结构；no one 只能指代指人的可数名词，后面不能 跟 of 结构。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None  of the  people present  agreed  to the plan.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在场的没有一个同意这项计划。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基数词+ dozen/hundred/thousand/million + 复数可数名词意为“ ……打/百/千/百万… 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There were about six hundred students in the school    building during  the earthquake.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地震时教学楼里大约有 600 名学生。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dozens/scores/hundreds/thousands/millions +of +复数可数名词意为“数十/百/千/百 万……”。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She went to the bookstore and bought dozens of books.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她去书店买了几十本书。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分钟数+past/after+小时分钟数是超过整时数30分钟内的部分，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意为 “ …… 点 过……分”。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five (minutes) past/after nine 9:05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分钟数+to+小时分钟数是超过半点距整 时数的差，意为“差……分…… 点”。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five (minutes) to ten9:55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at (the age of)+基数词意为“在…… 岁时”。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At  (the age of)  forty,  he became the general manager of the company.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他 40 岁时，成了公司的总经理。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a/an+名词+aged+基数词，名词+of+基数词+years old 意为“一个…… 岁的… 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He is an old man aged eighty.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他是一位 80 岁的老人。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 one’s+整十数的复数形式意为“在某人 几十多岁时”。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My mother became a professor in her thirties.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我妈妈三十多岁时就成了一名教授。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in+the+年数+s/’s 意为“在 …… 世纪 … … 年代”。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This kind of hairstyle was very popular in the 1990s/1990’s.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这种发型在 20 世纪 90 年代非常流行。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endParaRPr sz="20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倍数 +as+ 形容词/副词原级+as...意为 “ …是… 的…倍”。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The  new  stadium  being  built  for  the next Asia  Games  will  be  three  times  as big as the present one.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正在为下一届亚运会修建的新体育场将 是现在这个的三倍大。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倍数+the+名词+of...意为 “ … 是 … 的…倍”。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This street is twice/double the width of that one.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这条大街是那条街的两倍宽。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倍数＋形容词/副词比较级＋than... 意为 “ …是…的…倍”。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This room is twice larger than yours.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这间房子的大小是你们那间的两倍。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形容词/副词比较级＋than...＋by＋倍数 意为“ …是… 的…倍”。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This  line  is  longer  than  that  one  by twice.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这条线是那条线的两倍长。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the+序数词+单数可数名词,a/an+序数词+单数可数名词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序数词前用the 意为“第……”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 a/an意为“另一个，再一个” 。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In order to find a better job, he decided to study a second foreign language.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为了找一份更好的工作，他决定再学一门外语。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1520" y="843559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on+表示具体时间的名词表示在特定的日子、具体日期、星期几、节日或具体某一天的某个时间段上。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on Sunday morning 在星期天的早上  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on a rainy night of August 18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 (of)+种类、数量、度量、种族、国籍类名词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Machines  are  (of)  different  types  and sizes.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机器有不同的型号和规格。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（for+）时间段/距离 for 多用于某些表示 时间段的短语前或 last, stay, wait, live 及 表示“位移”意义的动词后。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The meeting lasted (for) three hours.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会议持续了3 个小时。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祈使句+or/and+陈述句意为“ … … ，否则/那么就… …” ，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祈使句表示条件，陈述句表示结果。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Seize the chance, or you’ll regret it.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抓住这个机会，否则你会后悔的。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...or...意为“ ……或者… …” ，表示选择。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Do you go to school by bus or on foot?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你是坐公共汽车还是步行去上学？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not...but...意为“不是… … ，而是… 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Not money but teachers are what we need.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我们需要的不是钱，而是老师。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either...or... 意为 “ 不是 …… 就是 ……, 要 么……要么… 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You can talk with Mr Black either in English or in Chinese.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你可以跟布莱克先生用英文或中文谈话。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not only...but (also)..意为“不但…而且…”。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He not only read the book, but also remembered what he had read.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他不仅看过这本书，而且还记得他看过的内容。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复合不定代词+形容词 ，形容词修饰复合 不定代词时要后置。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something interesting 有趣的事情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nothing special 没什么特别的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名词+形容词短语，形容词短语作定语时需后置。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Australia is a country famous for its beautiful scenery.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澳大利亚是一个以风景秀丽闻名的国家。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名词+形容词+and/or+形容词两个意义相近或相反的形容词用 and ，or 等连词连接作定语时，常需要后置。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 People in the village, young and old, went to see the film yesterday evening.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这个村子里的老老少少昨天晚上都去看 这场电影了。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as+形容词原级＋as 意为“ …和…一样…”。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This table is as clean as that one.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这张桌子和那张一样干净。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not as/so+形容词原级+as 意为“ …不像…一样…”。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She is not as/so happy as she pretends.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她并不像她假装得那么高兴。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...as+形容词原级+不可数名词，复数可数 名词+as...意为“ ……和……一样… 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I have as many books as Tom.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我和汤姆的书一样多。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...as+形容词 原级+a/an+可数名词单数 +as...意为“ ……和……一样… …”。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Most doctors think that medicine is as much an art as it is a science.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多数医生认为医学既是一门科学又是一 门艺术。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grayscl/>
          </a:blip>
          <a:srcRect/>
          <a:stretch>
            <a:fillRect/>
          </a:stretch>
        </p:blipFill>
        <p:spPr>
          <a:xfrm>
            <a:off x="222885" y="109855"/>
            <a:ext cx="6932295" cy="492633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grayscl/>
          </a:blip>
          <a:srcRect/>
          <a:stretch>
            <a:fillRect/>
          </a:stretch>
        </p:blipFill>
        <p:spPr>
          <a:xfrm>
            <a:off x="251460" y="86360"/>
            <a:ext cx="7501255" cy="477075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grayscl/>
          </a:blip>
          <a:srcRect/>
          <a:stretch>
            <a:fillRect/>
          </a:stretch>
        </p:blipFill>
        <p:spPr>
          <a:xfrm>
            <a:off x="251460" y="318770"/>
            <a:ext cx="8773160" cy="37242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23850" y="238125"/>
          <a:ext cx="7235190" cy="450723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76830"/>
                <a:gridCol w="2328545"/>
                <a:gridCol w="2329815"/>
              </a:tblGrid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CC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原形</a:t>
                      </a:r>
                      <a:endParaRPr lang="en-US" sz="2000" b="1" i="0" u="none" strike="noStrike">
                        <a:solidFill>
                          <a:srgbClr val="FFCC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CC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过去式</a:t>
                      </a:r>
                      <a:endParaRPr lang="en-US" sz="2000" b="1" i="0" u="none" strike="noStrike">
                        <a:solidFill>
                          <a:srgbClr val="FFCC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CC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过去分词</a:t>
                      </a:r>
                      <a:r>
                        <a:rPr lang="en-US" sz="2000" b="1" i="0" u="none" strike="noStrike">
                          <a:solidFill>
                            <a:srgbClr val="FFCC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PP</a:t>
                      </a:r>
                      <a:endParaRPr lang="en-US" sz="2000" b="1" i="0" u="none" strike="noStrike">
                        <a:solidFill>
                          <a:srgbClr val="FFCC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be(am, is , are)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was\were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been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become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became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become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begin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began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begun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break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broke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broken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bring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brought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brought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build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built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built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buy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bought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bought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catch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caught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caught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choose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chose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chosen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cut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cut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cut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do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did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done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drink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drank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drunk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90" y="19050"/>
            <a:ext cx="590232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67544" y="843558"/>
            <a:ext cx="8424936" cy="25202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grayscl/>
          </a:blip>
          <a:srcRect/>
          <a:stretch>
            <a:fillRect/>
          </a:stretch>
        </p:blipFill>
        <p:spPr>
          <a:xfrm>
            <a:off x="34290" y="144145"/>
            <a:ext cx="9109710" cy="37096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9" hasCustomPrompt="1"/>
          </p:nvPr>
        </p:nvSpPr>
        <p:spPr>
          <a:xfrm>
            <a:off x="249238" y="101600"/>
            <a:ext cx="8782050" cy="45720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50000"/>
              </a:lnSpc>
              <a:defRPr sz="1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5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被动语态</a:t>
            </a:r>
            <a:r>
              <a:rPr lang="zh-CN" alt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八种时态被动语态的形式（以do为例子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endParaRPr sz="2000" dirty="0"/>
          </a:p>
          <a:p>
            <a:pPr marL="0" indent="0" algn="l">
              <a:lnSpc>
                <a:spcPct val="150000"/>
              </a:lnSpc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   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9880" y="716280"/>
          <a:ext cx="8662035" cy="40093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55775"/>
                <a:gridCol w="3395345"/>
                <a:gridCol w="3510915"/>
              </a:tblGrid>
              <a:tr h="34036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</a:t>
                      </a:r>
                      <a:endParaRPr lang="en-US" sz="1100"/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主动语态</a:t>
                      </a:r>
                      <a:endParaRPr lang="en-US" sz="1100"/>
                    </a:p>
                  </a:txBody>
                  <a:tcPr marL="51671" marR="51671" marT="5484" marB="54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被动语态</a:t>
                      </a:r>
                      <a:endParaRPr lang="en-US" sz="1100"/>
                    </a:p>
                  </a:txBody>
                  <a:tcPr marL="51671" marR="51671" marT="5484" marB="54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一般现在时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do/does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am\is\are+done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一般将来时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will\be going to+do 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will+be+done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一般过去时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did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was\were+done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过去将来时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8666" marB="866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would/should +do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8666" marB="866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would/should be + 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8666" marB="866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现在进行时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am\is\are+doing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am\is\are+being+done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过去进行时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was\were+doing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was\were+being+done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现在完成时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have\has+done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have\has+been+done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过去完成时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5523" marB="552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had+done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5523" marB="552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had+been+done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5523" marB="552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情态动词</a:t>
                      </a:r>
                      <a:endParaRPr lang="en-US" sz="1400" b="1" i="0" u="none" strike="noStrike">
                        <a:solidFill>
                          <a:srgbClr val="FFFF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can+do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50000"/>
                        </a:lnSpc>
                        <a:defRPr/>
                      </a:pPr>
                      <a:r>
                        <a:rPr lang="en-US" sz="17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can+be+done </a:t>
                      </a:r>
                      <a:endParaRPr lang="en-US" sz="170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51671" marR="51671" marT="10335" marB="1033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656272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</a:t>
            </a:r>
            <a:r>
              <a:rPr lang="en-US" altLang="zh-CN" dirty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（</a:t>
            </a:r>
            <a:r>
              <a:rPr lang="en-US" altLang="zh-CN" dirty="0" err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真题</a:t>
            </a:r>
            <a:r>
              <a:rPr lang="en-US" altLang="zh-CN" dirty="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22275" y="771550"/>
            <a:ext cx="763587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. The world will be different ,and we have to be prepared to</a:t>
            </a:r>
            <a:r>
              <a:rPr lang="en-US" sz="24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     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to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the change.	</a:t>
            </a:r>
            <a:endParaRPr lang="en-US" sz="1200" dirty="0"/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A.agree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B.turn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C.adapt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D.move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07635" y="2571676"/>
            <a:ext cx="18803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6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656272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小试牛刀（真题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20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9560" y="561975"/>
            <a:ext cx="885444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7. Not only the students but also their foreign  </a:t>
            </a:r>
            <a:endParaRPr lang="en-US" dirty="0"/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teacher </a:t>
            </a:r>
            <a:r>
              <a:rPr lang="en-US" sz="28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   </a:t>
            </a: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watching romantic movies.</a:t>
            </a:r>
            <a:endParaRPr lang="en-US" sz="28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A.enjoy</a:t>
            </a: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8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B.enjoys</a:t>
            </a: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8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C.to enjoy	</a:t>
            </a:r>
            <a:endParaRPr lang="en-US" sz="28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D.enjoying</a:t>
            </a:r>
            <a:r>
              <a:rPr lang="en-US" sz="28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8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9660" y="3003476"/>
            <a:ext cx="1880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54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656272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小试牛刀（真题）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65125" y="771550"/>
            <a:ext cx="763587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8. The mayor said that the development would not have any bad</a:t>
            </a:r>
            <a:r>
              <a:rPr lang="en-US" sz="2400" b="1" i="0" u="sng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        </a:t>
            </a: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upon wildlife in the area.</a:t>
            </a:r>
            <a:endParaRPr lang="en-US" sz="1200"/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A.effect	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B.image	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 result	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D.power		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83835" y="2734236"/>
            <a:ext cx="18803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6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656272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小试牛刀（真题）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3700" y="771550"/>
            <a:ext cx="763587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9. John has no idea</a:t>
            </a:r>
            <a:r>
              <a:rPr lang="en-US" sz="24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     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this dog has been following him all the way.</a:t>
            </a:r>
            <a:endParaRPr lang="en-US" sz="1200" dirty="0"/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A.what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B.when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C.where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D.why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	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32325" y="2851076"/>
            <a:ext cx="1880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54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01600" y="50800"/>
            <a:ext cx="6562725" cy="51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小试牛刀（真题）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7950" y="1779588"/>
            <a:ext cx="6388100" cy="2952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03225" y="771550"/>
            <a:ext cx="7635875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10. The committee insisted that the proposal </a:t>
            </a:r>
            <a:r>
              <a:rPr lang="en-US" sz="2400" b="1" i="0" u="sng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without delay.</a:t>
            </a:r>
            <a:endParaRPr lang="en-US" sz="1200" dirty="0"/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A.be discussed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B. to be discussed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C.is discussed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50000"/>
              </a:lnSpc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D.is to be discussed		</a:t>
            </a:r>
            <a:endParaRPr lang="en-US" sz="2400" b="1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45760" y="2248461"/>
            <a:ext cx="1880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54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12775" y="987425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i="0" u="none" strike="noStrike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三、</a:t>
            </a:r>
            <a:r>
              <a:rPr lang="en-US" sz="3600" b="1" i="0" u="none" strike="noStrike" dirty="0" err="1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重点短语</a:t>
            </a:r>
            <a:endParaRPr lang="en-US" sz="11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3215" y="160655"/>
            <a:ext cx="4468495" cy="4319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8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 able to 能,会</a:t>
            </a:r>
            <a:endParaRPr lang="en-US" sz="1600"/>
          </a:p>
          <a:p>
            <a:pPr marL="342900" indent="-342900" algn="l" defTabSz="914400">
              <a:lnSpc>
                <a:spcPct val="18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above all 首先;最重要的是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8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answer for 对……负责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8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believe in 相信;信任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8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do one's best尽最大努力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8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had better 最好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785" y="229870"/>
            <a:ext cx="4410075" cy="3599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 defTabSz="914400">
              <a:lnSpc>
                <a:spcPct val="170000"/>
              </a:lnSpc>
            </a:pP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break away(from) 脱离;逃脱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70000"/>
              </a:lnSpc>
            </a:pP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break up 粉碎;解散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70000"/>
              </a:lnSpc>
            </a:pP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call up 打电话;召集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70000"/>
              </a:lnSpc>
            </a:pP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take care of 照顾;负责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70000"/>
              </a:lnSpc>
            </a:pP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carry on 继续;坚持下去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endParaRPr lang="en-US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9253" y="75084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4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 about to 即将,正要 </a:t>
            </a:r>
            <a:endParaRPr lang="en-US"/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act as 担任;充当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make an apology 道歉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belong to 属于;是……的成员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make the best of 充分利用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 bit 有一点儿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break in 打断;闯入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break out(战争等)突然发生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care for 关心;照顾;喜欢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 careful ( of) 当心,小心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carry out 开展;执行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3553" y="154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3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catch up with 赶上</a:t>
            </a:r>
            <a:endParaRPr lang="en-US" sz="1600"/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divide...into把……分成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each other 彼此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eat up 吃光,吃完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find out 找出;发现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 full of 充满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get away逃离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get up 起床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give a talk 演讲;作报告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give in 屈服;让步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99728" y="84609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3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help sb. with sth.帮某人做某事 </a:t>
            </a:r>
            <a:endParaRPr lang="en-US" sz="1600"/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hurry up 赶快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instead of 代替;而不是……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look after 照看;照顾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look around 向周围看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look forward to 盼望;期待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never mind 没关系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just a minute 等一下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 moment ago刚才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more or less或多或少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7328" y="154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3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change...into...把……变成…… </a:t>
            </a:r>
            <a:endParaRPr lang="en-US" sz="1600"/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do some cleaning做扫除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take it easy 别着急;别紧张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either...or...要么……要么……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catch fire 着火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make fun of 取笑(某人);开玩笑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get along well with与……相处融洽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give a concert 举行音乐会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give away 泄露;暴露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give lessons to 给……上课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0678" y="113184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 defTabSz="914400">
              <a:lnSpc>
                <a:spcPct val="14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help yourself to自取;随便吃 </a:t>
            </a:r>
            <a:endParaRPr lang="en-US" sz="1600"/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 a hurry 匆忙地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 interested in对.…感兴趣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look at 看 look for 寻找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look on (upon) 看待;观看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 a minute 一会儿;立刻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make a mistake 犯错误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more and more 越来越……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defTabSz="914400">
              <a:lnSpc>
                <a:spcPct val="14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 more 不再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431800" y="987425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zh-CN" altLang="en-US" sz="3600" b="1" i="0" u="none" strike="noStrike" dirty="0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四、</a:t>
            </a:r>
            <a:r>
              <a:rPr lang="en-US" sz="3600" b="1" i="0" u="none" strike="noStrike" dirty="0" err="1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写作</a:t>
            </a:r>
            <a:endParaRPr lang="en-US" sz="11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55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32213" y="4838700"/>
            <a:ext cx="1800225" cy="3079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隶书"/>
                <a:ea typeface="隶书"/>
                <a:cs typeface="隶书"/>
                <a:sym typeface="隶书"/>
              </a:rPr>
              <a:t>技术支持：木叶网络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2275" y="1035050"/>
            <a:ext cx="8781415" cy="431990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表示原因</a:t>
            </a:r>
            <a:endParaRPr lang="en-US" sz="1600"/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 The reason that ... is obvious. ……的原因是显而易见的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 The reason for this is obvious. 原因很明显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3) There are three reasons for this. 这有三个原因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4) Here are the reasons…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23850" y="1255713"/>
            <a:ext cx="7848600" cy="43195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2.表示好处 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1)It does us a lot of good.  对我们有很多好处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2)It benefits us quite a lot.  它对我们相当有益处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3)It has the following advantages. 它有以下的好处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55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32213" y="4838700"/>
            <a:ext cx="1800225" cy="3079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隶书"/>
                <a:ea typeface="隶书"/>
                <a:cs typeface="隶书"/>
                <a:sym typeface="隶书"/>
              </a:rPr>
              <a:t>技术支持：木叶网络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9375" y="1092200"/>
            <a:ext cx="9476740" cy="431990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表示坏处</a:t>
            </a:r>
            <a:endParaRPr lang="en-US" sz="1600"/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 It is harmful to us. 它对我们是有害处的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 It has more disadvantages than advantages. 它弊大于利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3) It does us much harm. 它对我们有害处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705" y="920750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4.表示重要、必要、困难、方便、可能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1)It is important(necessary, difficult, convenient, possible) for sb. to do sth.对某人来说做某事…..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2)We think it necessary to do sth.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我们认为做某事很必要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3)It plays an important role in our life.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它在我们生活中扮演一个很重要的角色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705" y="685800"/>
            <a:ext cx="9228455" cy="4319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5.表示措施 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1)We should solve the problems that we are faced with.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我们应该解决我们正在面临的问题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2)We should try our best to overcome the difficulties.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我们应该竭尽全力来克服困难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3) We should take some effective measures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我们应该采取一些有效的措施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23850" y="977900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6.表示变化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1)Some changes have taken place in the past five years.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在过去5年发生了一些变化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2)The computer has brought about many changes in education.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电脑已经在教育方面带给我们很多变化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0825" y="823595"/>
            <a:ext cx="8562340" cy="4319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7.表示事实、现状 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1)We cannot ignore the fact that...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我们不能忽略这个事实…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2)No one can deny the fact that...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没人能否定这个事实…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3)This is a case that many people are interested in.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这是很多人都感兴趣的一个事情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55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32213" y="4838700"/>
            <a:ext cx="1800225" cy="3079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隶书"/>
                <a:ea typeface="隶书"/>
                <a:cs typeface="隶书"/>
                <a:sym typeface="隶书"/>
              </a:rPr>
              <a:t>技术支持：木叶网络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23850" y="1348105"/>
            <a:ext cx="9324340" cy="431927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8. 表示比较</a:t>
            </a:r>
            <a:endParaRPr lang="en-US" sz="1600"/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 I prefer reading to watching TV.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比起看电视，我更喜欢读书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 Compared with A, B… 与A相比，B……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0825" y="1057275"/>
            <a:ext cx="9363075" cy="4319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9.表示数量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1)It has increased(decreased)from...to...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它已经从…增加到（减少到）…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2)The population in this city has now increased (decreased)to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在这个城市的人口已经现在增加（减少）到…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23850" y="1006475"/>
            <a:ext cx="8352790" cy="4319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10.表示看法 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1)People have different opinions on this problem.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人们在这个问题上有不同的看法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2)Some people believe that...Others argue that...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一些人相信… 而另一不相信。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7175" y="1143000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Nothing is + 比较级+than to + V 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Nothing is more important than to receive education. 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没有比接受教育更重要的事。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23850" y="1089025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cannot emphasize the importance of XX too much.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（再怎么强调...的重要性也不为过。）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We cannot emphasize the importance of protecting our eyes too much.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我们再怎么强调保护眼睛的重要性也不为过。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7175" y="1019175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There is no denying that + S + V ...（不可否认的...） 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There is no denying that the qualities of our living have gone from bad to worse.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不可否认的，我们的生活品质已经每况愈下。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0825" y="1122680"/>
            <a:ext cx="8562340" cy="43192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 is universally acknowledged that + 句子~~ （全世界都知道...） 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 is universally acknowledged that trees are indispensable to us.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全世界都知道树木对我们是不可或缺的。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23850" y="823595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There is no doubt that + 句子~~ （毫无疑问的...） 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endParaRPr sz="2000"/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There is no doubt that our educational system leaves something to be desired.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毫无疑问的我们的教育制度令人不满意。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55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32213" y="4838700"/>
            <a:ext cx="1800225" cy="3079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隶书"/>
                <a:ea typeface="隶书"/>
                <a:cs typeface="隶书"/>
                <a:sym typeface="隶书"/>
              </a:rPr>
              <a:t>技术支持：木叶网络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0825" y="1079500"/>
            <a:ext cx="7848600" cy="4319588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342900" indent="-342900" algn="l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An advantage of ~~~ is that + 句子（……的优点是……）</a:t>
            </a:r>
            <a:endParaRPr lang="en-US"/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An advantage of using the solar energy is that it won’t create (produce) any pollution.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使用太阳能的优点是它不会制造任何污染。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0825" y="823595"/>
            <a:ext cx="8571865" cy="4319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 reason why + 句子 ~~~ is that + 句子 （...的原因是...） 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 reason why we have to grow trees is that they can provide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us with fresh air.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40000"/>
              </a:lnSpc>
            </a:pPr>
            <a:endParaRPr sz="2000"/>
          </a:p>
          <a:p>
            <a:pPr marL="342900" indent="-342900" algn="l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 reason why we have to grow trees is that they can supply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fresh air for us.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4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我们必须种树的原因是它们能供应我们新鲜的空气。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0825" y="967105"/>
            <a:ext cx="8743950" cy="43192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The+比较级+S+V,　the +比较级+S+V （愈...愈...）　 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　harder　you　work,　the　more　progress　you　make.　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你愈努力，你愈进步。　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The　more　books　we　read,　the　more　learned　we　become.　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我们书读愈多，我们愈有学问。　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705" y="1006475"/>
            <a:ext cx="8835390" cy="4319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By+Ving,　can　+动词原型　（借着...，..能够..）　  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By　taking　exercise,　we　can　always　stay　healthy.　 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借着做运动，我们能够始终保持健康。　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23850" y="1052195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　no　account　can　we　+　V　（我们绝对不能...）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 no account can we ignore the value of knowledge.　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我们绝对不能忽略知识的价值。　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23850" y="1042988"/>
            <a:ext cx="7848600" cy="43195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　is　time　+　S　+　过去式　（该是...的时候了）　  </a:t>
            </a:r>
            <a:endParaRPr lang="en-US" sz="20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　is　time　the　authorities　concerned　took　proper　steps　to　solve　the　traffic　problems.　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该是有关当局采取适当的措施来解决交通问题的时候了。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0825" y="1079500"/>
            <a:ext cx="7848600" cy="4319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600" b="1" i="0" u="none" strike="noStrike" spc="0">
                <a:solidFill>
                  <a:srgbClr val="FFC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 pays to+V　~~~　（...是值得的。）　  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例句：</a:t>
            </a:r>
            <a:endParaRPr lang="en-US" sz="2400" b="1" i="0" u="none" strike="noStrike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It pays　to　help　others.　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帮助别人是值得的。　 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</a:pPr>
            <a:endParaRPr sz="2400"/>
          </a:p>
          <a:p>
            <a:pPr marL="342900" indent="-34290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9388" y="195263"/>
            <a:ext cx="6562725" cy="4905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书体坊安景臣钢笔行书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FFFF"/>
                </a:solidFill>
                <a:latin typeface="书体坊安景臣钢笔行书"/>
                <a:ea typeface="书体坊安景臣钢笔行书"/>
                <a:cs typeface="书体坊安景臣钢笔行书"/>
                <a:sym typeface="书体坊安景臣钢笔行书"/>
              </a:rPr>
              <a:t>写作训练</a:t>
            </a:r>
            <a:endParaRPr lang="en-US" sz="2800" b="1" i="0" u="none" strike="noStrike">
              <a:solidFill>
                <a:srgbClr val="FFFFFF"/>
              </a:solidFill>
              <a:latin typeface="书体坊安景臣钢笔行书"/>
              <a:ea typeface="书体坊安景臣钢笔行书"/>
              <a:cs typeface="书体坊安景臣钢笔行书"/>
              <a:sym typeface="书体坊安景臣钢笔行书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12775" y="987425"/>
            <a:ext cx="8496300" cy="1008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l" defTabSz="914400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AC0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答题技巧</a:t>
            </a:r>
            <a:endParaRPr lang="en-US" sz="110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94310" y="132715"/>
            <a:ext cx="8867140" cy="4319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200000"/>
              </a:lnSpc>
              <a:defRPr sz="1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一、选择题总分110分，基础题占50分，先把会的题目答上，保证基础分到手。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根据往年的试题答案分析，B、C选项答案最多，所以…….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二、完形填空题先读每一题的选项（写中文），再去读句子，注意原词重现。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三、阅读理解题的答案往往都隐藏在阅读理解正文中，先读题，再尽量找到正中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的题目（关键词），自行判断选择，如实在不会，建议选选项中最长的那个，正所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谓……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四、英语作文不要抄阅读理解的开头段，只能抄文章中间内容。如似懂非懂，可以参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照模仿阅读理解的句子，改头换面用到自己的作文里面。英语作文分数占比较高，也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是容易拿分的，所以建议大家可以在考前背1-2篇英文范文备用，写作字数一定要够！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>
              <a:lnSpc>
                <a:spcPct val="17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6050" y="749300"/>
            <a:ext cx="8896350" cy="10083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  <a:scene3d>
              <a:camera prst="orthographicFront"/>
              <a:lightRig rig="threePt" dir="t"/>
            </a:scene3d>
          </a:bodyPr>
          <a:lstStyle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914400" lvl="2" indent="0" algn="ctr" defTabSz="914400">
              <a:lnSpc>
                <a:spcPct val="150000"/>
              </a:lnSpc>
              <a:defRPr/>
            </a:pPr>
            <a:r>
              <a:rPr lang="en-US" sz="5400" b="1" i="0" u="none" strike="noStrike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最后祝各位同学考试</a:t>
            </a:r>
            <a:r>
              <a:rPr lang="zh-CN" altLang="en-US" sz="5400" b="1" i="0" u="none" strike="noStrike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顺利</a:t>
            </a:r>
            <a:r>
              <a:rPr lang="en-US" sz="5400" b="1" i="0" u="none" strike="noStrike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！</a:t>
            </a:r>
            <a:endParaRPr lang="en-US" sz="180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marL="914400" lvl="2" indent="0" algn="ctr" defTabSz="914400">
              <a:lnSpc>
                <a:spcPct val="150000"/>
              </a:lnSpc>
            </a:pPr>
            <a:r>
              <a:rPr lang="en-US" sz="5400" b="1" i="0" u="none" strike="noStrike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早日上岸！</a:t>
            </a:r>
            <a:endParaRPr lang="en-US" sz="5400" b="1" i="0" u="none" strike="noStrike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2*322"/>
  <p:tag name="TABLE_ENDDRAG_RECT" val="24*56*682*322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19258</Words>
  <Application>WPS 演示</Application>
  <PresentationFormat>全屏显示(16:9)</PresentationFormat>
  <Paragraphs>1411</Paragraphs>
  <Slides>149</Slides>
  <Notes>127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149</vt:i4>
      </vt:variant>
    </vt:vector>
  </HeadingPairs>
  <TitlesOfParts>
    <vt:vector size="171" baseType="lpstr">
      <vt:lpstr>Arial</vt:lpstr>
      <vt:lpstr>宋体</vt:lpstr>
      <vt:lpstr>Wingdings</vt:lpstr>
      <vt:lpstr>Arial</vt:lpstr>
      <vt:lpstr>隶书</vt:lpstr>
      <vt:lpstr>微软雅黑</vt:lpstr>
      <vt:lpstr>Wingdings</vt:lpstr>
      <vt:lpstr>Noto Sans SC</vt:lpstr>
      <vt:lpstr>Segoe Print</vt:lpstr>
      <vt:lpstr>Franklin Gothic Book</vt:lpstr>
      <vt:lpstr>Songti SC</vt:lpstr>
      <vt:lpstr>Arial Unicode MS</vt:lpstr>
      <vt:lpstr>书体坊安景臣钢笔行书</vt:lpstr>
      <vt:lpstr>华文新魏</vt:lpstr>
      <vt:lpstr>Franklin Gothic Book</vt:lpstr>
      <vt:lpstr>Songti SC</vt:lpstr>
      <vt:lpstr>Wingdings</vt:lpstr>
      <vt:lpstr>书体坊安景臣钢笔行书</vt:lpstr>
      <vt:lpstr>隶书</vt:lpstr>
      <vt:lpstr>Office 主题​​</vt:lpstr>
      <vt:lpstr>自定义主题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SSSSSSSIMON－</cp:lastModifiedBy>
  <cp:revision>14</cp:revision>
  <dcterms:created xsi:type="dcterms:W3CDTF">2026-10-10T07:33:20Z</dcterms:created>
  <dcterms:modified xsi:type="dcterms:W3CDTF">2026-10-10T08:06:27Z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DE3E53F11FB4488A8D647EF950FFF638_12</vt:lpwstr>
  </property>
  <property fmtid="{D5CDD505-2E9C-101B-9397-08002B2CF9AE}" pid="3" name="KSOProductBuildVer">
    <vt:lpwstr>2052-12.1.0.28505</vt:lpwstr>
  </property>
</Properties>
</file>
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Lst>
  <p:notesMasterIdLst>
    <p:notesMasterId r:id="rId6"/>
  </p:notesMasterIdLst>
  <p:handoutMasterIdLst>
    <p:handoutMasterId r:id="rId82"/>
  </p:handoutMasterIdLst>
  <p:sldIdLst>
    <p:sldId id="256" r:id="rId5"/>
    <p:sldId id="331"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4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4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5" Type="http://schemas.openxmlformats.org/officeDocument/2006/relationships/tableStyles" Target="tableStyles.xml"/><Relationship Id="rId84" Type="http://schemas.openxmlformats.org/officeDocument/2006/relationships/viewProps" Target="viewProps.xml"/><Relationship Id="rId83" Type="http://schemas.openxmlformats.org/officeDocument/2006/relationships/presProps" Target="presProps.xml"/><Relationship Id="rId82" Type="http://schemas.openxmlformats.org/officeDocument/2006/relationships/handoutMaster" Target="handoutMasters/handoutMaster1.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同学们好，欢迎来到2026年成人高考专升本政治冲刺讲座。今天我们用2小时时间，按照最新考试大纲，系统梳理三大部分的核心考点，并结合历年真题进行精练。</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政治满分150分，包括选择题80分、辨析题20分、简答题30分、论述题20分。希望通过今天的讲座，大家能抓住高频考点，提高应试能力。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同学们好，欢迎来到2026年成人高考专升本政治冲刺讲座。今天我们用2小时时间，按照最新考试大纲，系统梳理三大部分的核心考点，并结合历年真题进行精练。</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政治满分150分，包括选择题80分、辨析题20分、简答题30分、论述题20分。希望通过今天的讲座，大家能抓住高频考点，提高应试能力。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首先看试卷结构。政治满分150分，选择题占80分，是拉开差距的关键。辨析题20分，简答题30分，论述题20分。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内容比例：马克思主义哲学原理约占28%，毛泽东思想和中国特色社会主义理论体系概论约占32%，习近平新时代中国特色社会主义思想概论约占33%，时事政治约7%。</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冲刺阶段复习策略：选择题抓关键词，记住"根本""最""核心"等高频出题点。主观题要背框架，分点作答，不要整段写。</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今天的讲座按照考点、真题、答案三步走，建议大家先自己做题，再对照解析。三星考点是重中之重。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今天的内容分为三大部分：马哲6章约30分钟，毛中特9章约35分钟，习思想18章约45分钟，最后还有时事政治专题和备考总结。</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每章按照考点梳理、历年真题、答案解析三步进行，建议大家先自己做题再看答案。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现在进入第一部分——马克思主义哲学原理。这部分共6章，约占42分，是选择题和辨析题的高频出题区。</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马哲的特点是概念多、原理抽象，但考点相对固定，掌握核心概念就能拿分。我们逐章来看。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第一章核心考点：哲学基本问题是思维和存在的关系问题，这是必考内容。两个方面要记清楚：何者第一性划分唯物唯心，有无同一性划分可知不可知。</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唯物主义三种形态、唯心主义两种形态要能区分例子。马哲最显著的特征是实践性，这个经常考选择题。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现在我们来看两道历年真题。第一题考哲学基本问题的内容，第二题考主观唯心和客观唯心的区分。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给大家30秒时间思考，先不要看答案，自己选一个选项。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第一题选C。哲学基本问题只讲两个方面，物质和运动的关系是第二章的内容。</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第二题选C。区分主观唯心和客观唯心的关键：主观唯心把"我"的心、感觉当本原，如心外无物；客观唯心把人之外的客观精神当本原，如上帝、理、绝对观念。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第二章是马哲的重点章。物质的唯一特性是客观实在性，这是高频考点。运动和静止的关系要记住：运动绝对、静止相对。</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意识的本质两个要点：人脑机能、客观存在的反映。主观能动性和客观规律的关系是辨析题常考点。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第一题考物质的唯一特性，第二题考主观能动性和客观规律的关系。给大家30秒思考。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第一题选B。注意区分两个概念：物质的唯一特性是客观实在性，物质的根本属性是运动。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第二题选C。关键词"客观前提"，必须选和客观规律相关的选项。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第三章是马哲最重要的一章。三大规律：对立统一规律是核心，质量互变讲发展状态，否定之否定讲发展方向和道路。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矛盾普遍性和特殊性的关系是简答论述高频考点，一定要会背。辩证否定的实质是扬弃，这个常考选择题。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第一题考唯物辩证法总特征，第二题考辩证否定的实质。注意区分"总特征"和"实质核心"。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第一题选B。这个知识点容易混淆：总特征是联系和发展，实质核心是对立统一规律。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第二题选C。扬弃这个词一定要记住，辩证否定既不是简单肯定一切，也不是简单否定一切。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第四章认识论核心是实践和认识的关系。实践决定认识，四个方面要记住：来源、动力、检验标准、目的。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真理的客观性、绝对性和相对性，以及实践是检验真理的唯一标准，都是高频考点。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这道题是历年简答题高频题。给大家2分钟时间，在草稿纸上列出答题要点。</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提示：从实践决定认识、认识反作用于实践两个方面来答。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这道简答题满分10分。实践决定认识占6分，四个方面各1.5分；认识反作用占4分。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答题时一定要分点，不要整段写。关键词：来源、动力、检验标准、目的，这四个点一个都不能少。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第五章历史观核心是两条基本矛盾运动规律：生产力和生产关系、经济基础和上层建筑。</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社会存在和社会意识的关系是历史观基本问题，这个和哲学基本问题要区分开。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这道题是历史观部分的高频简答题。给大家2分钟时间列要点。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答题要点：社会存在决定社会意识是第一层，社会意识相对独立性和反作用是第二层。相对独立性的三个表现最好能记住。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第六章动力系统要记清楚：根本动力是社会基本矛盾，阶级社会直接动力是阶级斗争，社会主义社会直接动力是改革。</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人民群众是历史创造者，三个方面要记住。群众路线是党的根本工作路线。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第一题考根本动力，第二题考人民群众历史观。注意区分根本动力、直接动力、重要动力。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第一题选B。动力系统要记牢：根本动力=社会基本矛盾，直接动力=阶级斗争/改革，重要动力=科技。</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第二题选A。人民群众创造历史是历史唯物主义的根本观点。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现在进入第二部分——毛泽东思想和中国特色社会主义理论体系概论。这部分共9章，约48分。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重点掌握：马克思主义中国化两次飞跃、毛泽东思想活的灵魂、新民主主义革命三大法宝、社会主义本质、社会主义初级阶段基本路线等。</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第一章重点：马克思主义中国化时代化的科学内涵，两个结合要记住。两次历史性飞跃的理论成果要对应清楚。</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这道题是高频简答题。给大家2分钟列要点。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答题要点：两个结合是核心。同中国具体实际相结合、同中华优秀传统文化相结合。最后点明两个结合的地位。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第二章核心是毛泽东思想活的灵魂三个基本方面：实事求是、群众路线、独立自主。这是简答题高频考点。</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实事求是是精髓，要记住。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这是必背简答题。三个方面每个都要解释内涵。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三个方面，每个方面的内涵都要记住。实事求是是精髓这个定位常考选择题。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第三章重点：新民主主义革命总路线和三大法宝。领导权问题是核心——无产阶级领导。</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三大法宝要记住：统一战线、武装斗争、党的建设。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三大法宝是必考题。三个法宝名称+相互关系。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三大法宝名称必须记住。相互关系：两个武器+一个战士。统一战线和武装斗争是武器，党是战士。</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第四章重点：1956年三大改造完成标志社会主义制度确立。对资本主义工商业的和平赎买是中国特色。</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这道题常考。记住几个关键词：公有制确立、社会主义制度、最深刻变革、制度基础。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五个要点，关键词：公有制确立、最深刻变革、制度基础。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第五章重点：两篇著作的年份和内容。《论十大关系》讲调动积极因素，《关于正确处理人民内部矛盾的问题》讲两类矛盾。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注意区分敌我矛盾和人民内部矛盾的解决方法。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选B。敌我矛盾用专政，人民内部矛盾用民主说服教育。</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第六章最容易考的就是：中国特色社会主义理论体系不包括毛泽东思想。这个选择题年年考。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这道题是送分题，但年年有人错。记住：中国特色社会主义理论体系是改革开放后形成的。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选B。这个知识点一定要记牢，选择题必考。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第七章重点：社会主义本质五句话必须背下来。基本路线"一个中心两个基本点"是高频考点。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社会主义本质五句话，必须一字不差背下来。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三个代表三句话要记住。回答的问题是建设什么样的党、怎样建设党。</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这两题分别考三个代表和科学发展观回答的问题。注意区分每个理论回答的基本问题。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第一题选B。第二题选B。科学发展观四个方面的定位一定要记牢。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五句话，28个字，必须背熟。这是邓小平南方谈话中的经典论述，年年考。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现在进入第三部分，也是分值最高的部分——习近平新时代中国特色社会主义思想概论。共18章，约50分。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这部分是考试重中之重，论述题很可能从这里出。我们逐章快速过考点和真题。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第一章重点：新的飞跃这个定位。三个重大时代课题要了解。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选B。注意官方表述是"新的飞跃"，不是第二次飞跃。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新时代社会主要矛盾是必考点。注意和之前的表述区分：原来讲物质文化需要同落后生产，现在讲美好生活需要和不平衡不充分发展。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选C。注意区分新时代社会主要矛盾和原来的表述。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第三章是论述题高频考点。中国式现代化五个特征必须背熟。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五个特征，每个特征一句话解释。论述题还要加上和西方现代化的本质区别：西方现代化是资本主导、两极分化、对外掠夺的现代化。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最本质特征是党的领导，这个年年考。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选B。</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以人民为中心的发展思想。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选B。</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全面深化改革总目标是必背内容。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高质量发展是首要任务，这个必背。新发展理念五个词也要记住。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选B。</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选B。总目标两句话，要完整记住。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教育科技人才三者关系：教育是基础，科技是关键，人才是根本。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第八章选B。第九章根本政治制度是人民代表大会制度，注意区分根本和基本。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依法治国总目标两句话。社会主义核心价值观三个层面要记住。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这几章考点密集，关键词：就业是最大民生，绿水青山就是金山银山。</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总体国家安全观：宗旨是人民安全，根本是政治安全，基础是经济安全。这个经常考。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选B。记住：宗旨=人民安全，根本=政治安全，基础=经济安全。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全面从严治党重点：政治建设摆在首位，自我革命是第二个答案。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选B。注意区分：政治建设是根本性建设，思想建设是基础性建设。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时事政治考2025年7月到2026年6月的重大事件。重点记住：十五五规划、海南封关、60项世界遗产、105周年。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这8道时政题，看看你能答对几道。这些都是选择题高频考点，考前再过一遍。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最后阶段复习策略：选择题抓关键词，主观题背框架分点答。必背大题至少过三遍。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今天的冲刺讲座就到这里。希望大家回去后按今天梳理的框架认真复习，考试顺利，金榜题名！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2.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2.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9" name="文本框 8"/>
          <p:cNvSpPr txBox="1"/>
          <p:nvPr/>
        </p:nvSpPr>
        <p:spPr>
          <a:xfrm>
            <a:off x="247650" y="712470"/>
            <a:ext cx="11344275" cy="3138170"/>
          </a:xfrm>
          <a:prstGeom prst="rect">
            <a:avLst/>
          </a:prstGeom>
          <a:noFill/>
        </p:spPr>
        <p:txBody>
          <a:bodyPr wrap="square" rtlCol="0">
            <a:spAutoFit/>
            <a:scene3d>
              <a:camera prst="orthographicFront"/>
              <a:lightRig rig="threePt" dir="t"/>
            </a:scene3d>
          </a:bodyPr>
          <a:p>
            <a:pPr algn="ctr" defTabSz="914400">
              <a:lnSpc>
                <a:spcPct val="150000"/>
              </a:lnSpc>
            </a:pPr>
            <a:r>
              <a:rPr lang="en-US" sz="6600" b="1">
                <a:solidFill>
                  <a:srgbClr val="8B2E2E"/>
                </a:solidFill>
                <a:latin typeface="微软雅黑" panose="020B0503020204020204" charset="-122"/>
                <a:ea typeface="微软雅黑" panose="020B0503020204020204" charset="-122"/>
                <a:cs typeface="微软雅黑" panose="020B0503020204020204" charset="-122"/>
                <a:sym typeface="+mn-ea"/>
              </a:rPr>
              <a:t>广州大学易普教学点成人高考</a:t>
            </a:r>
            <a:endParaRPr lang="en-US" sz="6600" b="1" baseline="0">
              <a:solidFill>
                <a:srgbClr val="8B2E2E"/>
              </a:solidFill>
              <a:latin typeface="微软雅黑" panose="020B0503020204020204" charset="-122"/>
              <a:ea typeface="微软雅黑" panose="020B0503020204020204" charset="-122"/>
              <a:cs typeface="微软雅黑" panose="020B0503020204020204" charset="-122"/>
            </a:endParaRPr>
          </a:p>
          <a:p>
            <a:pPr algn="ctr" defTabSz="914400">
              <a:lnSpc>
                <a:spcPct val="150000"/>
              </a:lnSpc>
            </a:pPr>
            <a:r>
              <a:rPr lang="en-US" sz="6600" b="1">
                <a:solidFill>
                  <a:srgbClr val="8B2E2E"/>
                </a:solidFill>
                <a:latin typeface="微软雅黑" panose="020B0503020204020204" charset="-122"/>
                <a:ea typeface="微软雅黑" panose="020B0503020204020204" charset="-122"/>
                <a:cs typeface="微软雅黑" panose="020B0503020204020204" charset="-122"/>
                <a:sym typeface="+mn-ea"/>
              </a:rPr>
              <a:t>考前辅导讲座</a:t>
            </a:r>
            <a:endParaRPr lang="en-US" altLang="en-US" sz="6600" b="1" kern="1200">
              <a:ln w="22225">
                <a:solidFill>
                  <a:schemeClr val="accent2"/>
                </a:solidFill>
                <a:prstDash val="solid"/>
              </a:ln>
              <a:solidFill>
                <a:srgbClr val="8B2E2E"/>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0" name="文本框 9"/>
          <p:cNvSpPr txBox="1"/>
          <p:nvPr/>
        </p:nvSpPr>
        <p:spPr>
          <a:xfrm>
            <a:off x="5093970" y="5713730"/>
            <a:ext cx="1651000" cy="487680"/>
          </a:xfrm>
          <a:prstGeom prst="rect">
            <a:avLst/>
          </a:prstGeom>
          <a:noFill/>
        </p:spPr>
        <p:txBody>
          <a:bodyPr wrap="square" rtlCol="0">
            <a:noAutofit/>
            <a:scene3d>
              <a:camera prst="orthographicFront"/>
              <a:lightRig rig="threePt" dir="t"/>
            </a:scene3d>
          </a:bodyPr>
          <a:p>
            <a:r>
              <a:rPr lang="en-US" sz="2000" b="1">
                <a:solidFill>
                  <a:srgbClr val="8B2E2E"/>
                </a:solidFill>
                <a:latin typeface="微软雅黑" panose="020B0503020204020204" charset="-122"/>
                <a:ea typeface="微软雅黑" panose="020B0503020204020204" charset="-122"/>
                <a:cs typeface="微软雅黑" panose="020B0503020204020204" charset="-122"/>
                <a:sym typeface="+mn-ea"/>
              </a:rPr>
              <a:t>2026.10.11</a:t>
            </a:r>
            <a:endParaRPr lang="en-US" sz="2000" b="1">
              <a:solidFill>
                <a:srgbClr val="8B2E2E"/>
              </a:solidFill>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nvSpPr>
        <p:spPr>
          <a:xfrm>
            <a:off x="4290695" y="4028440"/>
            <a:ext cx="3898900" cy="706755"/>
          </a:xfrm>
          <a:prstGeom prst="rect">
            <a:avLst/>
          </a:prstGeom>
          <a:noFill/>
        </p:spPr>
        <p:txBody>
          <a:bodyPr wrap="square" rtlCol="0">
            <a:spAutoFit/>
          </a:bodyPr>
          <a:p>
            <a:r>
              <a:rPr lang="en-US" sz="4000" b="1">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专升本 - 政 治</a:t>
            </a:r>
            <a:endParaRPr lang="en-US" sz="4000" b="1">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1016000" y="2032000"/>
            <a:ext cx="10160000" cy="1016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60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2026年成人高考专升本政治</a:t>
            </a:r>
            <a:endParaRPr lang="en-US" sz="60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nvSpPr>
        <p:spPr>
          <a:xfrm>
            <a:off x="1016000" y="3175000"/>
            <a:ext cx="10160000" cy="762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4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冲刺讲座 · 考点精讲与历年真题精练</a:t>
            </a:r>
            <a:endParaRPr lang="en-US" sz="4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5" name="Connector 5"/>
          <p:cNvCxnSpPr/>
          <p:nvPr/>
        </p:nvCxnSpPr>
        <p:spPr>
          <a:xfrm rot="-4297">
            <a:off x="1016004" y="4311650"/>
            <a:ext cx="10160000" cy="12700"/>
          </a:xfrm>
          <a:prstGeom prst="straightConnector1">
            <a:avLst/>
          </a:prstGeom>
          <a:solidFill>
            <a:srgbClr val="DEE0E3">
              <a:alpha val="100000"/>
            </a:srgbClr>
          </a:solidFill>
          <a:ln w="12700" cap="flat" cmpd="sng">
            <a:solidFill>
              <a:srgbClr val="8B2E2E">
                <a:alpha val="100000"/>
              </a:srgbClr>
            </a:solidFill>
            <a:prstDash val="solid"/>
            <a:round/>
            <a:headEnd type="none" w="med" len="med"/>
            <a:tailEnd type="none" w="med" len="med"/>
          </a:ln>
        </p:spPr>
      </p:cxnSp>
      <p:sp>
        <p:nvSpPr>
          <p:cNvPr id="7" name="AutoShape 7"/>
          <p:cNvSpPr/>
          <p:nvPr/>
        </p:nvSpPr>
        <p:spPr>
          <a:xfrm>
            <a:off x="521335" y="5854700"/>
            <a:ext cx="9815830" cy="533400"/>
          </a:xfrm>
          <a:prstGeom prst="rect">
            <a:avLst/>
          </a:prstGeom>
          <a:noFill/>
          <a:ln w="12700" cap="flat" cmpd="sng">
            <a:noFill/>
            <a:prstDash val="solid"/>
            <a:round/>
          </a:ln>
        </p:spPr>
        <p:txBody>
          <a:bodyPr vert="horz" wrap="square" lIns="0" tIns="0" rIns="0" bIns="0" rtlCol="0" anchor="ctr" anchorCtr="0">
            <a:scene3d>
              <a:camera prst="orthographicFront"/>
              <a:lightRig rig="threePt" dir="t"/>
            </a:scene3d>
          </a:bodyPr>
          <a:lstStyle/>
          <a:p>
            <a:pPr marL="0" indent="0" algn="l">
              <a:lnSpc>
                <a:spcPct val="125000"/>
              </a:lnSpc>
              <a:defRPr/>
            </a:pPr>
            <a:r>
              <a:rPr lang="en-US" sz="2400" b="1" i="0" u="none" strike="noStrike">
                <a:ln/>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题型：选择题 80分 · 辨析题 20分 · 简答题 30分 · 论述题 20分</a:t>
            </a:r>
            <a:endParaRPr lang="en-US" sz="2400" b="1" i="0" u="none" strike="noStrike">
              <a:ln/>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2286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考试结构：150分如何分配？</a:t>
            </a:r>
            <a:endParaRPr lang="en-US" sz="1100"/>
          </a:p>
        </p:txBody>
      </p:sp>
      <p:cxnSp>
        <p:nvCxnSpPr>
          <p:cNvPr id="3" name="Connector 3"/>
          <p:cNvCxnSpPr/>
          <p:nvPr/>
        </p:nvCxnSpPr>
        <p:spPr>
          <a:xfrm rot="-42969">
            <a:off x="1016040" y="9842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graphicFrame>
        <p:nvGraphicFramePr>
          <p:cNvPr id="4" name="Table 4"/>
          <p:cNvGraphicFramePr>
            <a:graphicFrameLocks noGrp="1"/>
          </p:cNvGraphicFramePr>
          <p:nvPr/>
        </p:nvGraphicFramePr>
        <p:xfrm>
          <a:off x="165100" y="1257300"/>
          <a:ext cx="11873230" cy="4886325"/>
        </p:xfrm>
        <a:graphic>
          <a:graphicData uri="http://schemas.openxmlformats.org/drawingml/2006/table">
            <a:tbl>
              <a:tblPr>
                <a:effectLst/>
              </a:tblPr>
              <a:tblGrid>
                <a:gridCol w="1877060"/>
                <a:gridCol w="1704340"/>
                <a:gridCol w="1690370"/>
                <a:gridCol w="6601460"/>
              </a:tblGrid>
              <a:tr h="710565">
                <a:tc>
                  <a:txBody>
                    <a:bodyPr rtlCol="0"/>
                    <a:lstStyle/>
                    <a:p>
                      <a:pPr marL="0" indent="0" algn="ctr">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题型</a:t>
                      </a:r>
                      <a:endPar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t" anchorCtr="0">
                    <a:lnL>
                      <a:noFill/>
                    </a:lnL>
                    <a:lnR>
                      <a:noFill/>
                    </a:lnR>
                    <a:lnT>
                      <a:noFill/>
                    </a:lnT>
                    <a:lnB>
                      <a:noFill/>
                    </a:lnB>
                    <a:solidFill>
                      <a:srgbClr val="8B2E2E">
                        <a:alpha val="100000"/>
                      </a:srgbClr>
                    </a:solidFill>
                  </a:tcPr>
                </a:tc>
                <a:tc>
                  <a:txBody>
                    <a:bodyPr rtlCol="0"/>
                    <a:lstStyle/>
                    <a:p>
                      <a:pPr marL="0" indent="0" algn="ctr">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题量</a:t>
                      </a:r>
                      <a:endPar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t" anchorCtr="0">
                    <a:lnL>
                      <a:noFill/>
                    </a:lnL>
                    <a:lnR>
                      <a:noFill/>
                    </a:lnR>
                    <a:lnT>
                      <a:noFill/>
                    </a:lnT>
                    <a:lnB>
                      <a:noFill/>
                    </a:lnB>
                    <a:solidFill>
                      <a:srgbClr val="8B2E2E">
                        <a:alpha val="100000"/>
                      </a:srgbClr>
                    </a:solidFill>
                  </a:tcPr>
                </a:tc>
                <a:tc>
                  <a:txBody>
                    <a:bodyPr rtlCol="0"/>
                    <a:lstStyle/>
                    <a:p>
                      <a:pPr marL="0" indent="0" algn="ctr">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分值</a:t>
                      </a:r>
                      <a:endPar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t" anchorCtr="0">
                    <a:lnL>
                      <a:noFill/>
                    </a:lnL>
                    <a:lnR>
                      <a:noFill/>
                    </a:lnR>
                    <a:lnT>
                      <a:noFill/>
                    </a:lnT>
                    <a:lnB>
                      <a:noFill/>
                    </a:lnB>
                    <a:solidFill>
                      <a:srgbClr val="8B2E2E">
                        <a:alpha val="100000"/>
                      </a:srgbClr>
                    </a:solidFill>
                  </a:tcPr>
                </a:tc>
                <a:tc>
                  <a:txBody>
                    <a:bodyPr rtlCol="0"/>
                    <a:lstStyle/>
                    <a:p>
                      <a:pPr marL="0" indent="0" algn="ctr">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考查重点</a:t>
                      </a:r>
                      <a:endPar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t" anchorCtr="0">
                    <a:lnL>
                      <a:noFill/>
                    </a:lnL>
                    <a:lnR>
                      <a:noFill/>
                    </a:lnR>
                    <a:lnT>
                      <a:noFill/>
                    </a:lnT>
                    <a:lnB>
                      <a:noFill/>
                    </a:lnB>
                    <a:solidFill>
                      <a:srgbClr val="8B2E2E">
                        <a:alpha val="100000"/>
                      </a:srgbClr>
                    </a:solidFill>
                  </a:tcPr>
                </a:tc>
              </a:tr>
              <a:tr h="688340">
                <a:tc>
                  <a:txBody>
                    <a:bodyPr rtlCol="0"/>
                    <a:lstStyle/>
                    <a:p>
                      <a:pPr marL="0" indent="0" algn="ctr">
                        <a:lnSpc>
                          <a:spcPct val="100000"/>
                        </a:lnSpc>
                        <a:defRPr/>
                      </a:pPr>
                      <a:r>
                        <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选择题</a:t>
                      </a:r>
                      <a:endPar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noFill/>
                  </a:tcPr>
                </a:tc>
                <a:tc>
                  <a:txBody>
                    <a:bodyPr rtlCol="0"/>
                    <a:lstStyle/>
                    <a:p>
                      <a:pPr marL="0" indent="0" algn="ctr">
                        <a:lnSpc>
                          <a:spcPct val="100000"/>
                        </a:lnSpc>
                        <a:defRPr/>
                      </a:pPr>
                      <a:r>
                        <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40题</a:t>
                      </a:r>
                      <a:endPar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noFill/>
                  </a:tcPr>
                </a:tc>
                <a:tc>
                  <a:txBody>
                    <a:bodyPr rtlCol="0"/>
                    <a:lstStyle/>
                    <a:p>
                      <a:pPr marL="0" indent="0" algn="ctr">
                        <a:lnSpc>
                          <a:spcPct val="100000"/>
                        </a:lnSpc>
                        <a:defRPr/>
                      </a:pPr>
                      <a:r>
                        <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80分</a:t>
                      </a:r>
                      <a:endPar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noFill/>
                  </a:tcPr>
                </a:tc>
                <a:tc>
                  <a:txBody>
                    <a:bodyPr rtlCol="0"/>
                    <a:lstStyle/>
                    <a:p>
                      <a:pPr marL="0" indent="0" algn="ctr">
                        <a:lnSpc>
                          <a:spcPct val="100000"/>
                        </a:lnSpc>
                        <a:defRPr/>
                      </a:pPr>
                      <a:r>
                        <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基础知识、概念辨析、时事政治</a:t>
                      </a:r>
                      <a:endPar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noFill/>
                  </a:tcPr>
                </a:tc>
              </a:tr>
              <a:tr h="1055370">
                <a:tc>
                  <a:txBody>
                    <a:bodyPr rtlCol="0"/>
                    <a:lstStyle/>
                    <a:p>
                      <a:pPr marL="0" indent="0" algn="ctr">
                        <a:lnSpc>
                          <a:spcPct val="100000"/>
                        </a:lnSpc>
                        <a:defRPr/>
                      </a:pPr>
                      <a:r>
                        <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辨析题</a:t>
                      </a:r>
                      <a:endPar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noFill/>
                  </a:tcPr>
                </a:tc>
                <a:tc>
                  <a:txBody>
                    <a:bodyPr rtlCol="0"/>
                    <a:lstStyle/>
                    <a:p>
                      <a:pPr marL="0" indent="0" algn="ctr">
                        <a:lnSpc>
                          <a:spcPct val="100000"/>
                        </a:lnSpc>
                        <a:defRPr/>
                      </a:pPr>
                      <a:r>
                        <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2题</a:t>
                      </a:r>
                      <a:endPar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noFill/>
                  </a:tcPr>
                </a:tc>
                <a:tc>
                  <a:txBody>
                    <a:bodyPr rtlCol="0"/>
                    <a:lstStyle/>
                    <a:p>
                      <a:pPr marL="0" indent="0" algn="ctr">
                        <a:lnSpc>
                          <a:spcPct val="100000"/>
                        </a:lnSpc>
                        <a:defRPr/>
                      </a:pPr>
                      <a:r>
                        <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20分</a:t>
                      </a:r>
                      <a:endPar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noFill/>
                  </a:tcPr>
                </a:tc>
                <a:tc>
                  <a:txBody>
                    <a:bodyPr rtlCol="0"/>
                    <a:lstStyle/>
                    <a:p>
                      <a:pPr marL="0" indent="0" algn="ctr">
                        <a:lnSpc>
                          <a:spcPct val="100000"/>
                        </a:lnSpc>
                        <a:defRPr/>
                      </a:pPr>
                      <a:r>
                        <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哲学原理、重要论断的理解与判断</a:t>
                      </a:r>
                      <a:endPar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noFill/>
                  </a:tcPr>
                </a:tc>
              </a:tr>
              <a:tr h="688340">
                <a:tc>
                  <a:txBody>
                    <a:bodyPr rtlCol="0"/>
                    <a:lstStyle/>
                    <a:p>
                      <a:pPr marL="0" indent="0" algn="ctr">
                        <a:lnSpc>
                          <a:spcPct val="100000"/>
                        </a:lnSpc>
                        <a:defRPr/>
                      </a:pPr>
                      <a:r>
                        <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简答题</a:t>
                      </a:r>
                      <a:endPar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noFill/>
                  </a:tcPr>
                </a:tc>
                <a:tc>
                  <a:txBody>
                    <a:bodyPr rtlCol="0"/>
                    <a:lstStyle/>
                    <a:p>
                      <a:pPr marL="0" indent="0" algn="ctr">
                        <a:lnSpc>
                          <a:spcPct val="100000"/>
                        </a:lnSpc>
                        <a:defRPr/>
                      </a:pPr>
                      <a:r>
                        <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3题</a:t>
                      </a:r>
                      <a:endPar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noFill/>
                  </a:tcPr>
                </a:tc>
                <a:tc>
                  <a:txBody>
                    <a:bodyPr rtlCol="0"/>
                    <a:lstStyle/>
                    <a:p>
                      <a:pPr marL="0" indent="0" algn="ctr">
                        <a:lnSpc>
                          <a:spcPct val="100000"/>
                        </a:lnSpc>
                        <a:defRPr/>
                      </a:pPr>
                      <a:r>
                        <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30分</a:t>
                      </a:r>
                      <a:endPar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noFill/>
                  </a:tcPr>
                </a:tc>
                <a:tc>
                  <a:txBody>
                    <a:bodyPr rtlCol="0"/>
                    <a:lstStyle/>
                    <a:p>
                      <a:pPr marL="0" indent="0" algn="ctr">
                        <a:lnSpc>
                          <a:spcPct val="100000"/>
                        </a:lnSpc>
                        <a:defRPr/>
                      </a:pPr>
                      <a:r>
                        <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基本原理、主要内容、重要意义</a:t>
                      </a:r>
                      <a:endPar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noFill/>
                  </a:tcPr>
                </a:tc>
              </a:tr>
              <a:tr h="688340">
                <a:tc>
                  <a:txBody>
                    <a:bodyPr rtlCol="0"/>
                    <a:lstStyle/>
                    <a:p>
                      <a:pPr marL="0" indent="0" algn="ctr">
                        <a:lnSpc>
                          <a:spcPct val="100000"/>
                        </a:lnSpc>
                        <a:defRPr/>
                      </a:pPr>
                      <a:r>
                        <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论述题</a:t>
                      </a:r>
                      <a:endPar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noFill/>
                  </a:tcPr>
                </a:tc>
                <a:tc>
                  <a:txBody>
                    <a:bodyPr rtlCol="0"/>
                    <a:lstStyle/>
                    <a:p>
                      <a:pPr marL="0" indent="0" algn="ctr">
                        <a:lnSpc>
                          <a:spcPct val="100000"/>
                        </a:lnSpc>
                        <a:defRPr/>
                      </a:pPr>
                      <a:r>
                        <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1题</a:t>
                      </a:r>
                      <a:endPar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noFill/>
                  </a:tcPr>
                </a:tc>
                <a:tc>
                  <a:txBody>
                    <a:bodyPr rtlCol="0"/>
                    <a:lstStyle/>
                    <a:p>
                      <a:pPr marL="0" indent="0" algn="ctr">
                        <a:lnSpc>
                          <a:spcPct val="100000"/>
                        </a:lnSpc>
                        <a:defRPr/>
                      </a:pPr>
                      <a:r>
                        <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20分</a:t>
                      </a:r>
                      <a:endPar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noFill/>
                  </a:tcPr>
                </a:tc>
                <a:tc>
                  <a:txBody>
                    <a:bodyPr rtlCol="0"/>
                    <a:lstStyle/>
                    <a:p>
                      <a:pPr marL="0" indent="0" algn="ctr">
                        <a:lnSpc>
                          <a:spcPct val="100000"/>
                        </a:lnSpc>
                        <a:defRPr/>
                      </a:pPr>
                      <a:r>
                        <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理论联系实际、综合运用能力</a:t>
                      </a:r>
                      <a:endPar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noFill/>
                  </a:tcPr>
                </a:tc>
              </a:tr>
              <a:tr h="1055370">
                <a:tc>
                  <a:txBody>
                    <a:bodyPr rtlCol="0"/>
                    <a:lstStyle/>
                    <a:p>
                      <a:pPr marL="0" indent="0" algn="ctr">
                        <a:lnSpc>
                          <a:spcPct val="100000"/>
                        </a:lnSpc>
                        <a:defRPr/>
                      </a:pPr>
                      <a:r>
                        <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合计</a:t>
                      </a:r>
                      <a:endPar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solidFill>
                      <a:srgbClr val="8B2E2E">
                        <a:alpha val="10000"/>
                      </a:srgbClr>
                    </a:solidFill>
                  </a:tcPr>
                </a:tc>
                <a:tc>
                  <a:txBody>
                    <a:bodyPr rtlCol="0"/>
                    <a:lstStyle/>
                    <a:p>
                      <a:pPr marL="0" indent="0" algn="ctr">
                        <a:lnSpc>
                          <a:spcPct val="100000"/>
                        </a:lnSpc>
                        <a:defRPr/>
                      </a:pPr>
                      <a:r>
                        <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46题</a:t>
                      </a:r>
                      <a:endPar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solidFill>
                      <a:srgbClr val="8B2E2E">
                        <a:alpha val="10000"/>
                      </a:srgbClr>
                    </a:solidFill>
                  </a:tcPr>
                </a:tc>
                <a:tc>
                  <a:txBody>
                    <a:bodyPr rtlCol="0"/>
                    <a:lstStyle/>
                    <a:p>
                      <a:pPr marL="0" indent="0" algn="ctr">
                        <a:lnSpc>
                          <a:spcPct val="100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150分</a:t>
                      </a:r>
                      <a:endPar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solidFill>
                      <a:srgbClr val="8B2E2E">
                        <a:alpha val="10000"/>
                      </a:srgbClr>
                    </a:solidFill>
                  </a:tcPr>
                </a:tc>
                <a:tc>
                  <a:txBody>
                    <a:bodyPr rtlCol="0"/>
                    <a:lstStyle/>
                    <a:p>
                      <a:pPr marL="0" indent="0" algn="ctr">
                        <a:lnSpc>
                          <a:spcPct val="100000"/>
                        </a:lnSpc>
                        <a:defRPr/>
                      </a:pPr>
                      <a:r>
                        <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马哲约28% · 毛中特约32% · 习思想约33% · 时政7%</a:t>
                      </a:r>
                      <a:endParaRPr lang="en-US" sz="24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txBody>
                  <a:tcPr marL="101600" marR="101600" marT="101600" marB="101600" anchor="ctr" anchorCtr="0">
                    <a:lnL>
                      <a:noFill/>
                    </a:lnL>
                    <a:lnR>
                      <a:noFill/>
                    </a:lnR>
                    <a:lnT>
                      <a:noFill/>
                    </a:lnT>
                    <a:lnB>
                      <a:noFill/>
                    </a:lnB>
                    <a:solidFill>
                      <a:srgbClr val="8B2E2E">
                        <a:alpha val="10000"/>
                      </a:srgbClr>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06400" y="254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冲刺阶段怎么复习？</a:t>
            </a:r>
            <a:endParaRPr lang="en-US" sz="1100"/>
          </a:p>
        </p:txBody>
      </p:sp>
      <p:cxnSp>
        <p:nvCxnSpPr>
          <p:cNvPr id="3" name="Connector 3"/>
          <p:cNvCxnSpPr/>
          <p:nvPr/>
        </p:nvCxnSpPr>
        <p:spPr>
          <a:xfrm>
            <a:off x="406440" y="1008380"/>
            <a:ext cx="1186180" cy="75565"/>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4" name="AutoShape 4"/>
          <p:cNvSpPr/>
          <p:nvPr>
            <p:custDataLst>
              <p:tags r:id="rId1"/>
            </p:custDataLst>
          </p:nvPr>
        </p:nvSpPr>
        <p:spPr>
          <a:xfrm>
            <a:off x="596900" y="1524000"/>
            <a:ext cx="56388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一、选择题：抓关键词，快速排除</a:t>
            </a:r>
            <a:endPar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custDataLst>
              <p:tags r:id="rId2"/>
            </p:custDataLst>
          </p:nvPr>
        </p:nvSpPr>
        <p:spPr>
          <a:xfrm>
            <a:off x="596900" y="2286000"/>
            <a:ext cx="56388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63000"/>
              </a:lnSpc>
              <a:defRPr/>
            </a:pPr>
            <a:r>
              <a:rPr lang="en-US" sz="20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 记住核心概念的定义和地位</a:t>
            </a:r>
            <a:endParaRPr lang="en-US" sz="1600" b="1"/>
          </a:p>
          <a:p>
            <a:pPr marL="0" indent="0" algn="l">
              <a:lnSpc>
                <a:spcPct val="163000"/>
              </a:lnSpc>
            </a:pPr>
            <a:r>
              <a:rPr lang="en-US" sz="20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 注意"根本""最""核心""标志"等关键词</a:t>
            </a:r>
            <a:endParaRPr lang="en-US" sz="20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3000"/>
              </a:lnSpc>
            </a:pPr>
            <a:r>
              <a:rPr lang="en-US" sz="20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 相似概念对比记忆（如宗旨vs根本）</a:t>
            </a:r>
            <a:endParaRPr lang="en-US" sz="20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3000"/>
              </a:lnSpc>
            </a:pPr>
            <a:r>
              <a:rPr lang="en-US" sz="20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 时事题关注会议主题、数字、文件名</a:t>
            </a:r>
            <a:endParaRPr lang="en-US" sz="20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custDataLst>
              <p:tags r:id="rId3"/>
            </p:custDataLst>
          </p:nvPr>
        </p:nvSpPr>
        <p:spPr>
          <a:xfrm>
            <a:off x="5930900" y="1524000"/>
            <a:ext cx="56388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二、主观题：背框架，分点作答</a:t>
            </a:r>
            <a:endPar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AutoShape 7"/>
          <p:cNvSpPr/>
          <p:nvPr>
            <p:custDataLst>
              <p:tags r:id="rId4"/>
            </p:custDataLst>
          </p:nvPr>
        </p:nvSpPr>
        <p:spPr>
          <a:xfrm>
            <a:off x="5930900" y="2286000"/>
            <a:ext cx="56388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63000"/>
              </a:lnSpc>
              <a:defRPr/>
            </a:pPr>
            <a:r>
              <a:rPr lang="en-US" sz="20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 辨析题先判断对错，再说明理由</a:t>
            </a:r>
            <a:endParaRPr lang="en-US" sz="1600" b="1"/>
          </a:p>
          <a:p>
            <a:pPr marL="0" indent="0" algn="l">
              <a:lnSpc>
                <a:spcPct val="163000"/>
              </a:lnSpc>
            </a:pPr>
            <a:r>
              <a:rPr lang="en-US" sz="20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 简答题分点作答，每点一句话核心</a:t>
            </a:r>
            <a:endParaRPr lang="en-US" sz="20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3000"/>
              </a:lnSpc>
            </a:pPr>
            <a:r>
              <a:rPr lang="en-US" sz="20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 论述题：原理+联系实际+总结</a:t>
            </a:r>
            <a:endParaRPr lang="en-US" sz="20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3000"/>
              </a:lnSpc>
            </a:pPr>
            <a:r>
              <a:rPr lang="en-US" sz="20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 字迹工整，条理清晰，不留空白</a:t>
            </a:r>
            <a:endParaRPr lang="en-US" sz="20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8" name="Connector 8"/>
          <p:cNvCxnSpPr/>
          <p:nvPr/>
        </p:nvCxnSpPr>
        <p:spPr>
          <a:xfrm>
            <a:off x="406404" y="4183380"/>
            <a:ext cx="11870055" cy="75565"/>
          </a:xfrm>
          <a:prstGeom prst="straightConnector1">
            <a:avLst/>
          </a:prstGeom>
          <a:solidFill>
            <a:srgbClr val="DEE0E3">
              <a:alpha val="100000"/>
            </a:srgbClr>
          </a:solidFill>
          <a:ln w="12700" cap="flat" cmpd="sng">
            <a:solidFill>
              <a:srgbClr val="B4A08C">
                <a:alpha val="100000"/>
              </a:srgbClr>
            </a:solidFill>
            <a:prstDash val="solid"/>
            <a:round/>
            <a:headEnd type="none" w="med" len="med"/>
            <a:tailEnd type="none" w="med" len="med"/>
          </a:ln>
        </p:spPr>
      </p:cxnSp>
      <p:sp>
        <p:nvSpPr>
          <p:cNvPr id="9" name="AutoShape 9"/>
          <p:cNvSpPr/>
          <p:nvPr/>
        </p:nvSpPr>
        <p:spPr>
          <a:xfrm>
            <a:off x="406400" y="4445000"/>
            <a:ext cx="11870690" cy="762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冲刺提示：</a:t>
            </a:r>
            <a:r>
              <a:rPr lang="en-US" sz="20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今天讲座按"考点→真题→答案"三步走，先自己做题，再对照解析。</a:t>
            </a:r>
            <a:endParaRPr lang="en-US" sz="20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33000"/>
              </a:lnSpc>
              <a:defRPr/>
            </a:pPr>
            <a:r>
              <a:rPr lang="en-US" sz="20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重点标记★★★的内容，务必掌握。</a:t>
            </a:r>
            <a:endParaRPr lang="en-US" sz="20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本次讲座内容概览</a:t>
            </a:r>
            <a:endParaRPr lang="en-US" sz="1100"/>
          </a:p>
        </p:txBody>
      </p:sp>
      <p:cxnSp>
        <p:nvCxnSpPr>
          <p:cNvPr id="3" name="Connector 3"/>
          <p:cNvCxnSpPr/>
          <p:nvPr/>
        </p:nvCxnSpPr>
        <p:spPr>
          <a:xfrm rot="-42969">
            <a:off x="1016040" y="1263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4" name="AutoShape 4"/>
          <p:cNvSpPr/>
          <p:nvPr>
            <p:custDataLst>
              <p:tags r:id="rId1"/>
            </p:custDataLst>
          </p:nvPr>
        </p:nvSpPr>
        <p:spPr>
          <a:xfrm>
            <a:off x="1016000" y="1409700"/>
            <a:ext cx="304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第一部分</a:t>
            </a:r>
            <a:endPar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custDataLst>
              <p:tags r:id="rId2"/>
            </p:custDataLst>
          </p:nvPr>
        </p:nvSpPr>
        <p:spPr>
          <a:xfrm>
            <a:off x="356235" y="2095500"/>
            <a:ext cx="4304665" cy="1524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马克思主义哲学原理</a:t>
            </a:r>
            <a:endParaRPr lang="en-US" sz="1600" b="1"/>
          </a:p>
          <a:p>
            <a:pPr marL="0" indent="0" algn="l">
              <a:lnSpc>
                <a:spcPct val="142000"/>
              </a:lnSpc>
            </a:pPr>
            <a:r>
              <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（6章 · 约30分钟）</a:t>
            </a:r>
            <a:endPar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哲学基本问题 · 物质观</a:t>
            </a:r>
            <a:endPar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辩证法三大规律 · 认识论</a:t>
            </a:r>
            <a:endPar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历史观 · 社会发展动力</a:t>
            </a:r>
            <a:endPar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custDataLst>
              <p:tags r:id="rId3"/>
            </p:custDataLst>
          </p:nvPr>
        </p:nvSpPr>
        <p:spPr>
          <a:xfrm>
            <a:off x="4572000" y="1409700"/>
            <a:ext cx="304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a:t>
            </a:r>
            <a:endPar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AutoShape 7"/>
          <p:cNvSpPr/>
          <p:nvPr>
            <p:custDataLst>
              <p:tags r:id="rId4"/>
            </p:custDataLst>
          </p:nvPr>
        </p:nvSpPr>
        <p:spPr>
          <a:xfrm>
            <a:off x="3874135" y="2095500"/>
            <a:ext cx="4190365" cy="1524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毛中特概论</a:t>
            </a:r>
            <a:endParaRPr lang="en-US" sz="1600" b="1"/>
          </a:p>
          <a:p>
            <a:pPr marL="0" indent="0" algn="l">
              <a:lnSpc>
                <a:spcPct val="142000"/>
              </a:lnSpc>
            </a:pPr>
            <a:r>
              <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（9章 · 约35分钟）</a:t>
            </a:r>
            <a:endPar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马克思主义中国化</a:t>
            </a:r>
            <a:endPar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毛泽东思想 · 新民主主义理论</a:t>
            </a:r>
            <a:endPar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邓小平理论 · 三个代表 · 科学发展观</a:t>
            </a:r>
            <a:endPar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AutoShape 8"/>
          <p:cNvSpPr/>
          <p:nvPr>
            <p:custDataLst>
              <p:tags r:id="rId5"/>
            </p:custDataLst>
          </p:nvPr>
        </p:nvSpPr>
        <p:spPr>
          <a:xfrm>
            <a:off x="8394700" y="1409700"/>
            <a:ext cx="3048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a:t>
            </a:r>
            <a:endPar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AutoShape 9"/>
          <p:cNvSpPr/>
          <p:nvPr>
            <p:custDataLst>
              <p:tags r:id="rId6"/>
            </p:custDataLst>
          </p:nvPr>
        </p:nvSpPr>
        <p:spPr>
          <a:xfrm>
            <a:off x="8394700" y="2120900"/>
            <a:ext cx="4190365" cy="1524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习近平新时代中国特色</a:t>
            </a:r>
            <a:endParaRPr lang="en-US" sz="1600" b="1"/>
          </a:p>
          <a:p>
            <a:pPr marL="0" indent="0" algn="l">
              <a:lnSpc>
                <a:spcPct val="142000"/>
              </a:lnSpc>
            </a:pPr>
            <a:r>
              <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社会主义思想概论</a:t>
            </a:r>
            <a:endPar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（18章 · 约45分钟）</a:t>
            </a:r>
            <a:endPar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中国式现代化 · "五位一体"</a:t>
            </a:r>
            <a:endPar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"四个全面" · 全面从严治党</a:t>
            </a:r>
            <a:endParaRPr lang="en-US" sz="1800" b="1"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0" name="Connector 10"/>
          <p:cNvCxnSpPr/>
          <p:nvPr/>
        </p:nvCxnSpPr>
        <p:spPr>
          <a:xfrm rot="-4297">
            <a:off x="749304" y="4629150"/>
            <a:ext cx="10160000" cy="12700"/>
          </a:xfrm>
          <a:prstGeom prst="straightConnector1">
            <a:avLst/>
          </a:prstGeom>
          <a:solidFill>
            <a:srgbClr val="DEE0E3">
              <a:alpha val="100000"/>
            </a:srgbClr>
          </a:solidFill>
          <a:ln w="12700" cap="flat" cmpd="sng">
            <a:solidFill>
              <a:srgbClr val="B4A08C">
                <a:alpha val="100000"/>
              </a:srgbClr>
            </a:solidFill>
            <a:prstDash val="solid"/>
            <a:round/>
            <a:headEnd type="none" w="med" len="med"/>
            <a:tailEnd type="none" w="med" len="med"/>
          </a:ln>
        </p:spPr>
      </p:cxnSp>
      <p:sp>
        <p:nvSpPr>
          <p:cNvPr id="11" name="AutoShape 11"/>
          <p:cNvSpPr/>
          <p:nvPr/>
        </p:nvSpPr>
        <p:spPr>
          <a:xfrm>
            <a:off x="355600" y="47371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0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配套环节：</a:t>
            </a:r>
            <a:r>
              <a:rPr lang="en-US" sz="2000" b="0"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时事政治专题（约8分钟）· 备考方法总结（约2分钟）</a:t>
            </a:r>
            <a:endParaRPr lang="en-US" sz="1600"/>
          </a:p>
          <a:p>
            <a:pPr marL="0" indent="0" algn="l">
              <a:lnSpc>
                <a:spcPct val="150000"/>
              </a:lnSpc>
            </a:pPr>
            <a:r>
              <a:rPr lang="en-US" sz="20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学习方法：</a:t>
            </a:r>
            <a:r>
              <a:rPr lang="en-US" sz="2000" b="0"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每章先看考点梳理 → 独立完成真题 → 对照答案解析 → 标记薄弱点</a:t>
            </a:r>
            <a:endParaRPr lang="en-US" sz="2000" b="0"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8B2E2E">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2286000"/>
            <a:ext cx="10160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800" b="0" i="0" u="none" strike="noStrike">
                <a:solidFill>
                  <a:srgbClr val="FFFFFF">
                    <a:alpha val="7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PART ONE</a:t>
            </a:r>
            <a:endParaRPr lang="en-US" sz="2800" b="0" i="0" u="none" strike="noStrike">
              <a:solidFill>
                <a:srgbClr val="FFFFFF">
                  <a:alpha val="7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nvSpPr>
        <p:spPr>
          <a:xfrm>
            <a:off x="1016000" y="2921000"/>
            <a:ext cx="10160000" cy="889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5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马克思主义哲学原理</a:t>
            </a:r>
            <a:endParaRPr lang="en-US" sz="5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4" name="Connector 4"/>
          <p:cNvCxnSpPr/>
          <p:nvPr/>
        </p:nvCxnSpPr>
        <p:spPr>
          <a:xfrm rot="-28647">
            <a:off x="1016026" y="4057650"/>
            <a:ext cx="1524000" cy="12700"/>
          </a:xfrm>
          <a:prstGeom prst="straightConnector1">
            <a:avLst/>
          </a:prstGeom>
          <a:solidFill>
            <a:srgbClr val="DEE0E3">
              <a:alpha val="100000"/>
            </a:srgbClr>
          </a:solidFill>
          <a:ln w="25400" cap="flat" cmpd="sng">
            <a:solidFill>
              <a:srgbClr val="FFFFFF">
                <a:alpha val="60000"/>
              </a:srgbClr>
            </a:solidFill>
            <a:prstDash val="solid"/>
            <a:round/>
            <a:headEnd type="none" w="lg" len="lg"/>
            <a:tailEnd type="none" w="lg" len="lg"/>
          </a:ln>
        </p:spPr>
      </p:cxnSp>
      <p:sp>
        <p:nvSpPr>
          <p:cNvPr id="5" name="AutoShape 5"/>
          <p:cNvSpPr/>
          <p:nvPr/>
        </p:nvSpPr>
        <p:spPr>
          <a:xfrm>
            <a:off x="1016000" y="4318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共6章 · 约42分 · 选择题+辨析题高频区</a:t>
            </a:r>
            <a:endParaRPr lang="en-US" sz="2400" b="0" i="0" u="none" strike="noStrike">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95300" y="127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6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第一部分 · 第一章</a:t>
            </a:r>
            <a:endParaRPr lang="en-US" sz="16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nvSpPr>
        <p:spPr>
          <a:xfrm>
            <a:off x="4953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马克思主义哲学是科学的世界观和方法论</a:t>
            </a:r>
            <a:endParaRPr lang="en-US" sz="3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4" name="Connector 4"/>
          <p:cNvCxnSpPr/>
          <p:nvPr/>
        </p:nvCxnSpPr>
        <p:spPr>
          <a:xfrm rot="-42969">
            <a:off x="495340" y="1263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40335" y="1778000"/>
            <a:ext cx="12051030" cy="4064000"/>
          </a:xfrm>
          <a:prstGeom prst="rect">
            <a:avLst/>
          </a:prstGeom>
          <a:noFill/>
          <a:ln w="12700" cap="flat" cmpd="sng">
            <a:noFill/>
            <a:prstDash val="solid"/>
            <a:round/>
          </a:ln>
        </p:spPr>
        <p:txBody>
          <a:bodyPr vert="horz" wrap="square" lIns="0" tIns="0" rIns="0" bIns="0" rtlCol="0" anchor="ctr" anchorCtr="0"/>
          <a:lstStyle/>
          <a:p>
            <a:pPr marL="0" indent="0" algn="l">
              <a:lnSpc>
                <a:spcPct val="170000"/>
              </a:lnSpc>
              <a:defRPr/>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考点1</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哲学是理论化、系统化的世界观；哲学既是世界观也是方法论；哲学与具体科学是一般与个别的关系</a:t>
            </a:r>
            <a:endParaRPr lang="en-US" sz="2000" b="1"/>
          </a:p>
          <a:p>
            <a:pPr marL="0" indent="0" algn="l">
              <a:lnSpc>
                <a:spcPct val="170000"/>
              </a:lnSpc>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考点2</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哲学基本问题：思维和存在的关系问题（即物质和意识的关系问题）</a:t>
            </a:r>
            <a:endPar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第一方面：何者为第一性 → 划分唯物主义和唯心主义</a:t>
            </a:r>
            <a:endPar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第二方面：有无同一性 → 划分可知论和不可知论</a:t>
            </a:r>
            <a:endPar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考点3</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唯物主义三种形态：古代朴素唯物主义、近代形而上学唯物主义、辩证唯物主义</a:t>
            </a:r>
            <a:endPar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唯心主义两种形态：主观唯心主义、客观唯心主义</a:t>
            </a:r>
            <a:endPar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考点4</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辩证法用联系、发展、全面的观点看世界；形而上学用孤立、静止、片面的观点看世界</a:t>
            </a:r>
            <a:endPar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考点5</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马哲直接理论来源：德国古典哲学；实践性是马哲最显著最根本的特征</a:t>
            </a:r>
            <a:endPar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93700" y="127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6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第一部分 · 第一章 · 历年真题</a:t>
            </a:r>
            <a:endParaRPr lang="en-US" sz="16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nvSpPr>
        <p:spPr>
          <a:xfrm>
            <a:off x="393700" y="508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动手做一做：下列各题中只有一个正确答案</a:t>
            </a:r>
            <a:endParaRPr lang="en-US" sz="28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4" name="Connector 4"/>
          <p:cNvCxnSpPr/>
          <p:nvPr/>
        </p:nvCxnSpPr>
        <p:spPr>
          <a:xfrm flipV="1">
            <a:off x="393700" y="1130231"/>
            <a:ext cx="7829367" cy="12769"/>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143000" y="1555750"/>
            <a:ext cx="10160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2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【第1题】下列不属于哲学基本问题内容的是（　）</a:t>
            </a:r>
            <a:endParaRPr lang="en-US" sz="2200" b="1">
              <a:solidFill>
                <a:schemeClr val="tx1"/>
              </a:solidFill>
            </a:endParaRPr>
          </a:p>
          <a:p>
            <a:pPr marL="0" indent="0" algn="l">
              <a:lnSpc>
                <a:spcPct val="142000"/>
              </a:lnSpc>
            </a:pPr>
            <a:r>
              <a:rPr lang="en-US" sz="22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A. 物质与意识的关系问题</a:t>
            </a:r>
            <a:endParaRPr lang="en-US" sz="22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2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B. 思维能不能反映存在的问题</a:t>
            </a:r>
            <a:endParaRPr lang="en-US" sz="22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2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C. 物质与运动的关系问题</a:t>
            </a:r>
            <a:endParaRPr lang="en-US" sz="22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2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D. 思维与存在何者为第一性的问题</a:t>
            </a:r>
            <a:endParaRPr lang="en-US" sz="22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1143000" y="4476750"/>
            <a:ext cx="10160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2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【第2题】下列观点中，属于客观唯心主义的是（　）</a:t>
            </a:r>
            <a:endParaRPr lang="en-US" sz="2200" b="1">
              <a:solidFill>
                <a:schemeClr val="tx1"/>
              </a:solidFill>
            </a:endParaRPr>
          </a:p>
          <a:p>
            <a:pPr marL="0" indent="0" algn="l">
              <a:lnSpc>
                <a:spcPct val="142000"/>
              </a:lnSpc>
            </a:pPr>
            <a:r>
              <a:rPr lang="en-US" sz="22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A. 心外无物、心外无理</a:t>
            </a:r>
            <a:endParaRPr lang="en-US" sz="22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2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B. 天地合而万物生，阴阳接而变化起</a:t>
            </a:r>
            <a:endParaRPr lang="en-US" sz="22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2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C. 上帝决定一切</a:t>
            </a:r>
            <a:endParaRPr lang="en-US" sz="22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2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rPr>
              <a:t>D. 天地合气，万物自生</a:t>
            </a:r>
            <a:endParaRPr lang="en-US" sz="2200" b="1" i="0" u="none" strike="noStrike">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第一部分 · 第一章 · 答案与解析</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答案解析：看看你选对了吗？</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1714500"/>
            <a:ext cx="10160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【第1题】答案：C</a:t>
            </a:r>
            <a:endParaRPr lang="en-US" sz="1800" b="1"/>
          </a:p>
          <a:p>
            <a:pPr marL="0" indent="0" algn="l">
              <a:lnSpc>
                <a:spcPct val="142000"/>
              </a:lnSpc>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解析：哲学基本问题是思维和存在（物质和意识）的关系问题，包含两个方面：①何者为第一性；②思维能否认识存在。物质与运动的关系不属于哲学基本问题。</a:t>
            </a:r>
            <a:endPar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1016000" y="4064000"/>
            <a:ext cx="10160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【第2题】答案：C</a:t>
            </a:r>
            <a:endParaRPr lang="en-US" sz="1800" b="1"/>
          </a:p>
          <a:p>
            <a:pPr marL="0" indent="0" algn="l">
              <a:lnSpc>
                <a:spcPct val="142000"/>
              </a:lnSpc>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解析：A"心外无物"是主观唯心主义（把人的主观精神当世界本原）；B、D是古代朴素唯物主义；C"上帝决定一切"是客观唯心主义（把客观精神如理、理念、神当作世界本原）。</a:t>
            </a:r>
            <a:endPar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52400" y="1016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第一部分 · 第二章</a:t>
            </a:r>
            <a:endParaRPr lang="en-US" sz="1100"/>
          </a:p>
        </p:txBody>
      </p:sp>
      <p:sp>
        <p:nvSpPr>
          <p:cNvPr id="3" name="AutoShape 3"/>
          <p:cNvSpPr/>
          <p:nvPr/>
        </p:nvSpPr>
        <p:spPr>
          <a:xfrm>
            <a:off x="152400" y="4826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世界多样性与物质统一性</a:t>
            </a:r>
            <a:endParaRPr lang="en-US" sz="1100"/>
          </a:p>
        </p:txBody>
      </p:sp>
      <p:cxnSp>
        <p:nvCxnSpPr>
          <p:cNvPr id="4" name="Connector 4"/>
          <p:cNvCxnSpPr/>
          <p:nvPr/>
        </p:nvCxnSpPr>
        <p:spPr>
          <a:xfrm rot="-42969">
            <a:off x="152440" y="12382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77800" y="1993900"/>
            <a:ext cx="11758295" cy="4064000"/>
          </a:xfrm>
          <a:prstGeom prst="rect">
            <a:avLst/>
          </a:prstGeom>
          <a:noFill/>
          <a:ln w="12700" cap="flat" cmpd="sng">
            <a:noFill/>
            <a:prstDash val="solid"/>
            <a:round/>
          </a:ln>
        </p:spPr>
        <p:txBody>
          <a:bodyPr vert="horz" wrap="square" lIns="0" tIns="0" rIns="0" bIns="0" rtlCol="0" anchor="ctr" anchorCtr="0"/>
          <a:lstStyle/>
          <a:p>
            <a:pPr marL="0" indent="0" algn="l">
              <a:lnSpc>
                <a:spcPct val="146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考点1</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列宁物质定义：物质是标志</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客观实在</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的哲学范畴；</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客观实在性是物质的唯一特性</a:t>
            </a:r>
            <a:endParaRPr lang="en-US" sz="1800"/>
          </a:p>
          <a:p>
            <a:pPr marL="0" indent="0" algn="l">
              <a:lnSpc>
                <a:spcPct val="146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考点2</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运动是物质的</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根本属性和存在方式</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；物质和运动不可分割</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6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考点3</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运动是绝对的、无条件的；静止是相对的、有条件的；相对静止是理解事物多样性的前提</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6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考点4</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规律是事物</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本质的、必然的、稳定的</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联系；规律具有客观性，人不能创造消灭规律，但可以认识利用规律</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6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考点5</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意识本质：①人脑的机能；②客观存在的主观映象（客观内容+主观形式）</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6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考点6</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物质决定意识，意识对物质有能动反作用（正确促进，错误阻碍）</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6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考点7</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尊重客观规律是发挥主观能动性的</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前提</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；发挥主观能动性是认识利用规律的必要条件</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第一部分 · 第二章 · 历年真题</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真题精练：物质观与意识观</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1841500"/>
            <a:ext cx="10160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【第1题】物质的唯一特性是（　）</a:t>
            </a:r>
            <a:endParaRPr lang="en-US" sz="1800" b="1"/>
          </a:p>
          <a:p>
            <a:pPr marL="0" indent="0" algn="l">
              <a:lnSpc>
                <a:spcPct val="142000"/>
              </a:lnSpc>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运动　　B. 客观实在性　　C. 可知性　　D. 永恒性</a:t>
            </a:r>
            <a:endPar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1016000" y="4064000"/>
            <a:ext cx="10160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【第2题】正确发挥意识能动作用的客观前提是（　）</a:t>
            </a:r>
            <a:endParaRPr lang="en-US" sz="1800" b="1"/>
          </a:p>
          <a:p>
            <a:pPr marL="0" indent="0" algn="l">
              <a:lnSpc>
                <a:spcPct val="142000"/>
              </a:lnSpc>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个人积极性的充分调动</a:t>
            </a:r>
            <a:endPar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B. 集体智慧的充分发挥</a:t>
            </a:r>
            <a:endPar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C. 对客观规律的正确反映</a:t>
            </a:r>
            <a:endPar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D. 对保守思想的彻底克服</a:t>
            </a:r>
            <a:endPar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第一部分 · 第二章 · 答案与解析</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答案解析</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368935" y="1841500"/>
            <a:ext cx="11175365" cy="1905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【第1题】答案：B</a:t>
            </a:r>
            <a:endParaRPr lang="en-US" sz="1800"/>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解析：物质的唯一特性是</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客观实在性</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——它存在于人的意识之外，可以为人的意识所反映。注意区分：运动是物质的根本属性和存在方式，不是唯一特性。</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368935" y="3937000"/>
            <a:ext cx="11175365" cy="1905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【第2题】答案：C</a:t>
            </a:r>
            <a:endParaRPr lang="en-US" sz="1800"/>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解析：尊重客观规律是正确发挥主观能动性的前提。只有正确认识和掌握客观规律，才能有效发挥主观能动性。A、B、D都是主观条件，不是客观前提。</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第一部分 · 第三章</a:t>
            </a:r>
            <a:endParaRPr lang="en-US" sz="1100"/>
          </a:p>
        </p:txBody>
      </p:sp>
      <p:sp>
        <p:nvSpPr>
          <p:cNvPr id="3" name="AutoShape 3"/>
          <p:cNvSpPr/>
          <p:nvPr/>
        </p:nvSpPr>
        <p:spPr>
          <a:xfrm>
            <a:off x="1016000" y="889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事物的联系、发展及其规律</a:t>
            </a:r>
            <a:endParaRPr lang="en-US" sz="1100"/>
          </a:p>
        </p:txBody>
      </p:sp>
      <p:cxnSp>
        <p:nvCxnSpPr>
          <p:cNvPr id="4" name="Connector 4"/>
          <p:cNvCxnSpPr/>
          <p:nvPr/>
        </p:nvCxnSpPr>
        <p:spPr>
          <a:xfrm rot="-42969">
            <a:off x="1016040" y="1644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381635" y="1879600"/>
            <a:ext cx="11568430" cy="4318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考点1</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唯物辩证法总特征：</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联系的观点和发展的观点</a:t>
            </a:r>
            <a:endParaRPr lang="en-US" sz="2200"/>
          </a:p>
          <a:p>
            <a:pPr marL="0" indent="0" algn="l">
              <a:lnSpc>
                <a:spcPct val="142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考点2</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联系特点：普遍性、客观性、多样性、条件性；发展实质是</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新事物产生、旧事物灭亡</a:t>
            </a:r>
            <a:endPar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考点3</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对立统一规律（矛盾规律）是唯物辩证法的</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实质与核心</a:t>
            </a:r>
            <a:endPar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考点4</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矛盾两个基本属性：</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同一性（相对、有条件）和斗争性（绝对、无条件）</a:t>
            </a:r>
            <a:endPar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考点5</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矛盾普遍性（事事有矛盾、时时有矛盾）和特殊性（具体问题具体分析）辩证关系：共性寓于个性之中</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考点6</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内因是事物发展的</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根据</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，外因是条件，外因通过内因起作用</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考点7</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质量互变规律：量变是必要准备，质变是必然结果；坚持适度原则、重视量的积累</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考点8</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辩证否定实质是</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"扬弃"</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（既克服又保留）；事物发展是前进性与曲折性统一</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第一部分 · 第三章 · 历年真题</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真题精练：辩证法核心概念</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1841500"/>
            <a:ext cx="10160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【第1题】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唯物辩证法的总特征是（　）</a:t>
            </a:r>
            <a:endParaRPr lang="en-US" sz="1800"/>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对立统一规律　　B. 联系和发展的观点</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C. 质量互变规律　　D. 否定之否定规律</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1016000" y="4064000"/>
            <a:ext cx="10160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【第2题】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辩证否定的实质是（　）</a:t>
            </a:r>
            <a:endParaRPr lang="en-US" sz="1800"/>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全盘肯定　　B. 全盘否定</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C. 扬弃　　　　D. 抛弃</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第一部分 · 第三章 · 答案与解析</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答案解析</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1841500"/>
            <a:ext cx="10160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【第1题】答案：B</a:t>
            </a:r>
            <a:endParaRPr lang="en-US" sz="1800"/>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解析：唯物辩证法的总特征是</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联系的观点和发展的观点</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。注意区分：对立统一规律才是唯物辩证法的实质与核心，不是总特征。</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1016000" y="4064000"/>
            <a:ext cx="10160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【第2题】答案：C</a:t>
            </a:r>
            <a:endParaRPr lang="en-US" sz="1800"/>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解析：辩证否定的实质是</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"扬弃"</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——既克服又保留，克服旧事物中消极的东西，保留旧事物中积极的因素。不是全盘肯定也不是全盘否定。</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第一部分 · 第四章</a:t>
            </a:r>
            <a:endParaRPr lang="en-US" sz="1100"/>
          </a:p>
        </p:txBody>
      </p:sp>
      <p:sp>
        <p:nvSpPr>
          <p:cNvPr id="3" name="AutoShape 3"/>
          <p:cNvSpPr/>
          <p:nvPr/>
        </p:nvSpPr>
        <p:spPr>
          <a:xfrm>
            <a:off x="1016000" y="889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实践和认识及其发展规律</a:t>
            </a:r>
            <a:endParaRPr lang="en-US" sz="1100"/>
          </a:p>
        </p:txBody>
      </p:sp>
      <p:cxnSp>
        <p:nvCxnSpPr>
          <p:cNvPr id="4" name="Connector 4"/>
          <p:cNvCxnSpPr/>
          <p:nvPr/>
        </p:nvCxnSpPr>
        <p:spPr>
          <a:xfrm rot="-42969">
            <a:off x="1016040" y="1644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39700" y="2006600"/>
            <a:ext cx="12292965" cy="406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考点1</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实践是认识的基础：实践是认识的</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来源、动力、检验标准、目的</a:t>
            </a:r>
            <a:endParaRPr lang="en-US" sz="1800"/>
          </a:p>
          <a:p>
            <a:pPr marL="0" indent="0" algn="l">
              <a:lnSpc>
                <a:spcPct val="150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考点2</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认识的两个阶段：感性认识（感觉、知觉、表象）和理性认识（概念、判断、推理）</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理性认识依赖于感性认识，感性认识有待于发展到理性认识</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考点3</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认识运动总规律：</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实践→认识→再实践→再认识</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，反复循环、无限发展</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考点4</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真理是人们对客观事物及其规律的正确反映；真理具有客观性</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考点5</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真理的绝对性和相对性：二者辩证统一，相互依存、相互包含</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考点6</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实践是检验真理的唯一标准</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（由真理本性和实践特点决定）</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第一部分 · 第四章 · 历年真题</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真题精练：实践与认识</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2032000"/>
            <a:ext cx="10160000" cy="3556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【简答题】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简述实践与认识的辩证关系。</a:t>
            </a:r>
            <a:endParaRPr lang="en-US" sz="1600"/>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969696"/>
                </a:solidFill>
                <a:latin typeface="微软雅黑" panose="020B0503020204020204" charset="-122"/>
                <a:ea typeface="微软雅黑" panose="020B0503020204020204" charset="-122"/>
                <a:cs typeface="微软雅黑" panose="020B0503020204020204" charset="-122"/>
                <a:sym typeface="微软雅黑" panose="020B0503020204020204" charset="-122"/>
              </a:rPr>
              <a:t>（请在草稿纸上列出答题要点，下一页对照参考答案）</a:t>
            </a:r>
            <a:endParaRPr lang="en-US" sz="2400" b="0" i="0" u="none" strike="noStrike">
              <a:solidFill>
                <a:srgbClr val="96969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第一部分 · 第四章 · 参考答案</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参考答案与评分要点</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1841500"/>
            <a:ext cx="10160000" cy="4318000"/>
          </a:xfrm>
          <a:prstGeom prst="rect">
            <a:avLst/>
          </a:prstGeom>
          <a:noFill/>
          <a:ln w="12700" cap="flat" cmpd="sng">
            <a:noFill/>
            <a:prstDash val="solid"/>
            <a:round/>
          </a:ln>
        </p:spPr>
        <p:txBody>
          <a:bodyPr vert="horz" wrap="square" lIns="0" tIns="0" rIns="0" bIns="0" rtlCol="0" anchor="ctr" anchorCtr="0"/>
          <a:lstStyle/>
          <a:p>
            <a:pPr marL="0" indent="0" algn="l">
              <a:lnSpc>
                <a:spcPct val="140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（1）实践决定认识（实践是认识的基础）：</a:t>
            </a:r>
            <a:endParaRPr lang="en-US" sz="1800"/>
          </a:p>
          <a:p>
            <a:pPr marL="0" indent="0" algn="l">
              <a:lnSpc>
                <a:spcPct val="14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① 实践是认识的</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来源</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② 实践是认识发展的</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动力</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③ 实践是检验认识真理性的</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唯一标准</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④ 实践是认识的</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目的</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0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（2）认识对实践具有能动反作用：</a:t>
            </a:r>
            <a:endPar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① 正确的认识、科学理论对实践具有</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指导促进</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作用；</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② 错误的认识会</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阻碍</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实践发展。</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方法论：坚持实践第一的观点，重视科学理论的指导作用。</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第一部分 · 第五章</a:t>
            </a:r>
            <a:endParaRPr lang="en-US" sz="1100"/>
          </a:p>
        </p:txBody>
      </p:sp>
      <p:sp>
        <p:nvSpPr>
          <p:cNvPr id="3" name="AutoShape 3"/>
          <p:cNvSpPr/>
          <p:nvPr/>
        </p:nvSpPr>
        <p:spPr>
          <a:xfrm>
            <a:off x="1016000" y="889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历史观基本问题和社会发展基本规律</a:t>
            </a:r>
            <a:endParaRPr lang="en-US" sz="1100"/>
          </a:p>
        </p:txBody>
      </p:sp>
      <p:cxnSp>
        <p:nvCxnSpPr>
          <p:cNvPr id="4" name="Connector 4"/>
          <p:cNvCxnSpPr/>
          <p:nvPr/>
        </p:nvCxnSpPr>
        <p:spPr>
          <a:xfrm rot="-42969">
            <a:off x="1016040" y="1644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737235" y="1968500"/>
            <a:ext cx="11200130" cy="4064000"/>
          </a:xfrm>
          <a:prstGeom prst="rect">
            <a:avLst/>
          </a:prstGeom>
          <a:noFill/>
          <a:ln w="12700" cap="flat" cmpd="sng">
            <a:noFill/>
            <a:prstDash val="solid"/>
            <a:round/>
          </a:ln>
        </p:spPr>
        <p:txBody>
          <a:bodyPr vert="horz" wrap="square" lIns="0" tIns="0" rIns="0" bIns="0" rtlCol="0" anchor="ctr" anchorCtr="0"/>
          <a:lstStyle/>
          <a:p>
            <a:pPr marL="0" indent="0" algn="l">
              <a:lnSpc>
                <a:spcPct val="170000"/>
              </a:lnSpc>
              <a:defRPr/>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考点1</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历史观基本问题：</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社会存在和社会意识的关系问题</a:t>
            </a:r>
            <a:endParaRPr lang="en-US" sz="2200"/>
          </a:p>
          <a:p>
            <a:pPr marL="0" indent="0" algn="l">
              <a:lnSpc>
                <a:spcPct val="170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考点2</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社会存在决定社会意识；社会意识具有</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相对独立性</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，对社会存在有能动反作用</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先进社会意识促进社会发展，落后社会意识阻碍社会发展</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考点3</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生产力和生产关系：生产力决定生产关系，生产关系反作用于生产力</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生产关系一定要适合</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生产力</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状况的规律</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考点4</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经济基础和上层建筑：经济基础决定上层建筑，上层建筑反作用于经济基础</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上层建筑一定要适合</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经济基础</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状况的规律</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考点5</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物质资料生产方式是社会发展的</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决定力量</a:t>
            </a:r>
            <a:endPar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第一部分 · 第五章 · 历年真题</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真题精练：历史观基本问题</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2032000"/>
            <a:ext cx="10160000" cy="3556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【简答题】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简述社会存在与社会意识的辩证关系。</a:t>
            </a:r>
            <a:endParaRPr lang="en-US" sz="1600"/>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969696"/>
                </a:solidFill>
                <a:latin typeface="微软雅黑" panose="020B0503020204020204" charset="-122"/>
                <a:ea typeface="微软雅黑" panose="020B0503020204020204" charset="-122"/>
                <a:cs typeface="微软雅黑" panose="020B0503020204020204" charset="-122"/>
                <a:sym typeface="微软雅黑" panose="020B0503020204020204" charset="-122"/>
              </a:rPr>
              <a:t>（先自己列要点，下一页看参考答案）</a:t>
            </a:r>
            <a:endParaRPr lang="en-US" sz="2400" b="0" i="0" u="none" strike="noStrike">
              <a:solidFill>
                <a:srgbClr val="96969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第一部分 · 第五章 · 参考答案</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参考答案</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368935" y="1905000"/>
            <a:ext cx="10807065" cy="4064000"/>
          </a:xfrm>
          <a:prstGeom prst="rect">
            <a:avLst/>
          </a:prstGeom>
          <a:noFill/>
          <a:ln w="12700" cap="flat" cmpd="sng">
            <a:noFill/>
            <a:prstDash val="solid"/>
            <a:round/>
          </a:ln>
        </p:spPr>
        <p:txBody>
          <a:bodyPr vert="horz" wrap="square" lIns="0" tIns="0" rIns="0" bIns="0" rtlCol="0" anchor="ctr" anchorCtr="0"/>
          <a:lstStyle/>
          <a:p>
            <a:pPr marL="0" indent="0" algn="l">
              <a:lnSpc>
                <a:spcPct val="158000"/>
              </a:lnSpc>
              <a:defRPr/>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（1）社会存在决定社会意识：</a:t>
            </a:r>
            <a:endParaRPr lang="en-US" sz="2200"/>
          </a:p>
          <a:p>
            <a:pPr marL="0" indent="0" algn="l">
              <a:lnSpc>
                <a:spcPct val="158000"/>
              </a:lnSpc>
            </a:pP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社会意识是社会存在的反映，社会存在的性质和变化决定社会意识的性质和变化。</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8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（2）社会意识具有相对独立性：</a:t>
            </a:r>
            <a:endPar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8000"/>
              </a:lnSpc>
            </a:pP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① 社会意识与社会存在发展具有</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不平衡性</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8000"/>
              </a:lnSpc>
            </a:pP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② 社会意识内部各种形式之间相互影响且具有</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历史继承性</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8000"/>
              </a:lnSpc>
            </a:pP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③ 社会意识对社会存在具有</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能动反作用</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——先进的社会意识促进社会发展，落后的社会意识阻碍社会发展。</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第一部分 · 第六章</a:t>
            </a:r>
            <a:endParaRPr lang="en-US" sz="1100"/>
          </a:p>
        </p:txBody>
      </p:sp>
      <p:sp>
        <p:nvSpPr>
          <p:cNvPr id="3" name="AutoShape 3"/>
          <p:cNvSpPr/>
          <p:nvPr/>
        </p:nvSpPr>
        <p:spPr>
          <a:xfrm>
            <a:off x="1016000" y="889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社会历史发展的动力</a:t>
            </a:r>
            <a:endParaRPr lang="en-US" sz="1100"/>
          </a:p>
        </p:txBody>
      </p:sp>
      <p:cxnSp>
        <p:nvCxnSpPr>
          <p:cNvPr id="4" name="Connector 4"/>
          <p:cNvCxnSpPr/>
          <p:nvPr/>
        </p:nvCxnSpPr>
        <p:spPr>
          <a:xfrm rot="-42969">
            <a:off x="1016040" y="1644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762000" y="1905000"/>
            <a:ext cx="10692765" cy="406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考点1</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社会发展动力系统：</a:t>
            </a:r>
            <a:endParaRPr lang="en-US" sz="1600"/>
          </a:p>
          <a:p>
            <a:pPr marL="0" indent="0" algn="l">
              <a:lnSpc>
                <a:spcPct val="150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根本动力</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——社会基本矛盾（生产力和生产关系、经济基础和上层建筑的矛盾）</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直接动力</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——阶级斗争（阶级社会）；改革（社会主义社会）</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重要动力</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——科学技术</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考点2</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人民群众是历史的创造者：</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① 人民群众是社会</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物质财富</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的创造者；</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② 人民群众是社会</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精神财富</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的创造者；</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③ 人民群众是社会</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变革的决定力量</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考点3</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群众观点：一切为了群众、一切依靠群众、一切向人民群众负责、虚心向群众学习</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群众路线：</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从群众中来，到群众中去</a:t>
            </a:r>
            <a:endPar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127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第一部分 · 第六章 · 历年真题</a:t>
            </a:r>
            <a:endParaRPr lang="en-US" sz="1100"/>
          </a:p>
        </p:txBody>
      </p:sp>
      <p:sp>
        <p:nvSpPr>
          <p:cNvPr id="3" name="AutoShape 3"/>
          <p:cNvSpPr/>
          <p:nvPr/>
        </p:nvSpPr>
        <p:spPr>
          <a:xfrm>
            <a:off x="1016000" y="508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真题精练：动力系统与人民群众</a:t>
            </a:r>
            <a:endParaRPr lang="en-US" sz="1100"/>
          </a:p>
        </p:txBody>
      </p:sp>
      <p:cxnSp>
        <p:nvCxnSpPr>
          <p:cNvPr id="4" name="Connector 4"/>
          <p:cNvCxnSpPr/>
          <p:nvPr/>
        </p:nvCxnSpPr>
        <p:spPr>
          <a:xfrm rot="-42969">
            <a:off x="1016040" y="1136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1371600"/>
            <a:ext cx="10160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【第1题】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社会发展的根本动力是（　）</a:t>
            </a:r>
            <a:endParaRPr lang="en-US" sz="1800"/>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阶级斗争　　　　B. 社会基本矛盾</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C. 科学技术　　　　D. 人民群众</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1016000" y="3962400"/>
            <a:ext cx="10160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【第2题】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人民群众既是历史的剧中人又是剧作者，这是（　）</a:t>
            </a:r>
            <a:endParaRPr lang="en-US" sz="1800"/>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历史唯物主义观点</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B. 历史唯心主义观点</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C. 历史辩证法观点</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D. 唯意志论观点</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第一部分 · 第六章 · 答案与解析</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答案解析</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1905000"/>
            <a:ext cx="10160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【第1题】答案：B</a:t>
            </a:r>
            <a:endParaRPr lang="en-US" sz="1800"/>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解析：社会基本矛盾（生产力和生产关系、经济基础和上层建筑的矛盾）是社会发展的</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根本动力</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。阶级斗争是阶级社会发展的直接动力，科学技术是重要动力。</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1016000" y="4318000"/>
            <a:ext cx="10160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【第2题】答案：A</a:t>
            </a:r>
            <a:endParaRPr lang="en-US" sz="1800"/>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解析："人民群众既是历史的剧中人又是剧作者"强调人民群众创造历史，这是</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历史唯物主义</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的基本观点。历史唯心主义否认人民群众的历史作用。</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8B2E2E">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50900" y="787400"/>
            <a:ext cx="10160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0" i="0" u="none" strike="noStrike">
                <a:solidFill>
                  <a:srgbClr val="FFFFFF">
                    <a:alpha val="7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PART TWO</a:t>
            </a:r>
            <a:endParaRPr lang="en-US" sz="2400" b="0" i="0" u="none" strike="noStrike">
              <a:solidFill>
                <a:srgbClr val="FFFFFF">
                  <a:alpha val="7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nvSpPr>
        <p:spPr>
          <a:xfrm>
            <a:off x="850900" y="1422400"/>
            <a:ext cx="10160000" cy="889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4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毛泽东思想和中国特色社会主义</a:t>
            </a:r>
            <a:endParaRPr lang="en-US" sz="4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nvSpPr>
        <p:spPr>
          <a:xfrm>
            <a:off x="850900" y="2184400"/>
            <a:ext cx="10160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4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理论体系概论</a:t>
            </a:r>
            <a:endParaRPr lang="en-US" sz="4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5" name="Connector 5"/>
          <p:cNvCxnSpPr/>
          <p:nvPr/>
        </p:nvCxnSpPr>
        <p:spPr>
          <a:xfrm rot="-28647">
            <a:off x="850926" y="3194050"/>
            <a:ext cx="1524000" cy="12700"/>
          </a:xfrm>
          <a:prstGeom prst="straightConnector1">
            <a:avLst/>
          </a:prstGeom>
          <a:solidFill>
            <a:srgbClr val="DEE0E3">
              <a:alpha val="100000"/>
            </a:srgbClr>
          </a:solidFill>
          <a:ln w="25400" cap="flat" cmpd="sng">
            <a:solidFill>
              <a:srgbClr val="FFFFFF">
                <a:alpha val="60000"/>
              </a:srgbClr>
            </a:solidFill>
            <a:prstDash val="solid"/>
            <a:round/>
            <a:headEnd type="none" w="lg" len="lg"/>
            <a:tailEnd type="none" w="lg" len="lg"/>
          </a:ln>
        </p:spPr>
      </p:cxnSp>
      <p:sp>
        <p:nvSpPr>
          <p:cNvPr id="6" name="AutoShape 6"/>
          <p:cNvSpPr/>
          <p:nvPr/>
        </p:nvSpPr>
        <p:spPr>
          <a:xfrm>
            <a:off x="850900" y="34544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共9章 · 约48分 · 选择题+简答题高频区</a:t>
            </a:r>
            <a:endParaRPr lang="en-US" sz="2000" b="0" i="0" u="none" strike="noStrike">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第一章</a:t>
            </a:r>
            <a:endParaRPr lang="en-US" sz="1100"/>
          </a:p>
        </p:txBody>
      </p:sp>
      <p:sp>
        <p:nvSpPr>
          <p:cNvPr id="3" name="AutoShape 3"/>
          <p:cNvSpPr/>
          <p:nvPr/>
        </p:nvSpPr>
        <p:spPr>
          <a:xfrm>
            <a:off x="1016000" y="889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马克思主义中国化时代化的历史进程与理论成果</a:t>
            </a:r>
            <a:endParaRPr lang="en-US" sz="1100"/>
          </a:p>
        </p:txBody>
      </p:sp>
      <p:cxnSp>
        <p:nvCxnSpPr>
          <p:cNvPr id="4" name="Connector 4"/>
          <p:cNvCxnSpPr/>
          <p:nvPr/>
        </p:nvCxnSpPr>
        <p:spPr>
          <a:xfrm rot="-42969">
            <a:off x="1016040" y="1644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495935" y="1943100"/>
            <a:ext cx="11238865" cy="406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考点1</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马克思主义中国化时代化科学内涵：把马克思主义基本原理</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同中国具体实际相结合、同中华优秀传统文化相结合</a:t>
            </a:r>
            <a:endParaRPr lang="en-US" sz="2200"/>
          </a:p>
          <a:p>
            <a:pPr marL="0" indent="0" algn="l">
              <a:lnSpc>
                <a:spcPct val="150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考点2</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两次历史性飞跃：</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第一次飞跃</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：创立了毛泽东思想</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新的飞跃</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：创立了中国特色社会主义理论体系（邓小平理论、"三个代表"重要思想、科学发展观）</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新的飞跃</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：创立了习近平新时代中国特色社会主义思想</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考点3</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理论成果之间</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一脉相承又与时俱进</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，都坚持马克思主义立场观点方法</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考点4</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"两个结合"是开辟和发展中国特色社会主义的</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根本途径</a:t>
            </a:r>
            <a:endPar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第一章 · 历年真题</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真题精练</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2032000"/>
            <a:ext cx="10160000" cy="3556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【简答题】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如何理解马克思主义中国化时代化的科学内涵？</a:t>
            </a:r>
            <a:endParaRPr lang="en-US" sz="1600"/>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969696"/>
                </a:solidFill>
                <a:latin typeface="微软雅黑" panose="020B0503020204020204" charset="-122"/>
                <a:ea typeface="微软雅黑" panose="020B0503020204020204" charset="-122"/>
                <a:cs typeface="微软雅黑" panose="020B0503020204020204" charset="-122"/>
                <a:sym typeface="微软雅黑" panose="020B0503020204020204" charset="-122"/>
              </a:rPr>
              <a:t>（先列要点，下一页看参考答案）</a:t>
            </a:r>
            <a:endParaRPr lang="en-US" sz="2400" b="0" i="0" u="none" strike="noStrike">
              <a:solidFill>
                <a:srgbClr val="96969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第一章 · 参考答案</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参考答案</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431800" y="1905000"/>
            <a:ext cx="10744200" cy="4191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马克思主义中国化时代化，就是：</a:t>
            </a:r>
            <a:endParaRPr lang="en-US" sz="1800"/>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（1）把马克思主义基本原理</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同中国具体实际相结合</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，运用马克思主义的立场、观点、方法解决中国革命、建设、改革中的实际问题；</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（2）把马克思主义基本原理</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同中华优秀传统文化相结合</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，赋予马克思主义鲜明的中国特色、中国风格、中国气派；</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（3）总结中国实践经验，把它上升为理论，丰富和发展马克思主义；</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（4）用马克思主义中国化时代化的理论成果指导中国实践。</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"两个结合"是开辟和发展中国特色社会主义的根本途径。</a:t>
            </a:r>
            <a:endPar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1905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第二章</a:t>
            </a:r>
            <a:endParaRPr lang="en-US" sz="1100"/>
          </a:p>
        </p:txBody>
      </p:sp>
      <p:sp>
        <p:nvSpPr>
          <p:cNvPr id="3" name="AutoShape 3"/>
          <p:cNvSpPr/>
          <p:nvPr/>
        </p:nvSpPr>
        <p:spPr>
          <a:xfrm>
            <a:off x="1016000" y="5715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毛泽东思想及其历史地位</a:t>
            </a:r>
            <a:endParaRPr lang="en-US" sz="1100"/>
          </a:p>
        </p:txBody>
      </p:sp>
      <p:cxnSp>
        <p:nvCxnSpPr>
          <p:cNvPr id="4" name="Connector 4"/>
          <p:cNvCxnSpPr/>
          <p:nvPr/>
        </p:nvCxnSpPr>
        <p:spPr>
          <a:xfrm rot="-42969">
            <a:off x="1016040" y="13271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572135" y="1917700"/>
            <a:ext cx="11162665" cy="406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考点1</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毛泽东思想活的灵魂：</a:t>
            </a:r>
            <a:endParaRPr lang="en-US" sz="1600"/>
          </a:p>
          <a:p>
            <a:pPr marL="0" indent="0" algn="l">
              <a:lnSpc>
                <a:spcPct val="150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① </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实事求是</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——一切从实际出发，理论联系实际，在实践中检验真理和发展真理（</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精髓</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② </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群众路线</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——一切为了群众，一切依靠群众，从群众中来，到群众中去</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③ </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独立自主</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——立足本国实际，依靠本国人民力量，走自己的路</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考点2</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毛泽东思想形成发展：</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萌芽——党的创建和大革命时期；形成——土地革命战争时期；成熟——抗日战争时期；继续发展——解放战争和新中国成立后</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考点3</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毛泽东思想历史地位：</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① 马克思主义中国化时代化</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第一个</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重大理论成果；</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② 中国革命和建设的科学指南；</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③ 中国共产党和中国人民宝贵的精神财富</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第二章 · 历年真题</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真题精练：活的灵魂</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2032000"/>
            <a:ext cx="10160000" cy="3556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【简答题】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简述毛泽东思想活的灵魂及其基本内涵。</a:t>
            </a:r>
            <a:endParaRPr lang="en-US" sz="1600"/>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969696"/>
                </a:solidFill>
                <a:latin typeface="微软雅黑" panose="020B0503020204020204" charset="-122"/>
                <a:ea typeface="微软雅黑" panose="020B0503020204020204" charset="-122"/>
                <a:cs typeface="微软雅黑" panose="020B0503020204020204" charset="-122"/>
                <a:sym typeface="微软雅黑" panose="020B0503020204020204" charset="-122"/>
              </a:rPr>
              <a:t>（先自己列要点，下一页对照答案）</a:t>
            </a:r>
            <a:endParaRPr lang="en-US" sz="2400" b="0" i="0" u="none" strike="noStrike">
              <a:solidFill>
                <a:srgbClr val="96969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第二章 · 参考答案</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参考答案</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381000" y="1841500"/>
            <a:ext cx="11340465" cy="4318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毛泽东思想活的灵魂是</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实事求是、群众路线、独立自主</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（1）</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实事求是</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：就是一切从实际出发，理论联系实际，坚持在实践中检验真理和发展真理。实事求是是毛泽东思想的</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精髓</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群众路线</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：就是一切为了群众，一切依靠群众，从群众中来，到群众中去。群众路线是我们党的生命线和根本工作路线。</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（3）</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独立自主</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：就是坚定不移地维护民族独立、捍卫国家主权，把立足点放在依靠自己力量的基础上，同时积极争取外援，学习外国一切对我们有益的先进事物。</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第三章</a:t>
            </a:r>
            <a:endParaRPr lang="en-US" sz="1100"/>
          </a:p>
        </p:txBody>
      </p:sp>
      <p:sp>
        <p:nvSpPr>
          <p:cNvPr id="3" name="AutoShape 3"/>
          <p:cNvSpPr/>
          <p:nvPr/>
        </p:nvSpPr>
        <p:spPr>
          <a:xfrm>
            <a:off x="1016000" y="889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新民主主义革命理论</a:t>
            </a:r>
            <a:endParaRPr lang="en-US" sz="1100"/>
          </a:p>
        </p:txBody>
      </p:sp>
      <p:cxnSp>
        <p:nvCxnSpPr>
          <p:cNvPr id="4" name="Connector 4"/>
          <p:cNvCxnSpPr/>
          <p:nvPr/>
        </p:nvCxnSpPr>
        <p:spPr>
          <a:xfrm rot="-42969">
            <a:off x="1016040" y="1644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596900" y="1905000"/>
            <a:ext cx="11087100" cy="406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考点1</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近代中国国情：半殖民地半封建社会；主要矛盾是帝国主义和中华民族、封建主义和人民大众的矛盾</a:t>
            </a:r>
            <a:endParaRPr lang="en-US" sz="2200"/>
          </a:p>
          <a:p>
            <a:pPr marL="0" indent="0" algn="l">
              <a:lnSpc>
                <a:spcPct val="150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考点2</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新民主主义革命总路线：无产阶级领导的，人民大众的，反对帝国主义、封建主义和官僚资本主义的革命</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革命对象：帝、封、官；革命动力：人民大众；</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领导权：无产阶级</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；革命前途：社会主义</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考点3</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三大法宝</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：统一战线、武装斗争、党的建设</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考点4</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革命道路：</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农村包围城市、武装夺取政权</a:t>
            </a:r>
            <a:endPar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第三章 · 历年真题</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真题精练：三大法宝</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2032000"/>
            <a:ext cx="10160000" cy="3556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【简答题】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简述新民主主义革命的三大法宝及其相互关系。</a:t>
            </a:r>
            <a:endParaRPr lang="en-US" sz="1600"/>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969696"/>
                </a:solidFill>
                <a:latin typeface="微软雅黑" panose="020B0503020204020204" charset="-122"/>
                <a:ea typeface="微软雅黑" panose="020B0503020204020204" charset="-122"/>
                <a:cs typeface="微软雅黑" panose="020B0503020204020204" charset="-122"/>
                <a:sym typeface="微软雅黑" panose="020B0503020204020204" charset="-122"/>
              </a:rPr>
              <a:t>（先列要点，下一页看答案）</a:t>
            </a:r>
            <a:endParaRPr lang="en-US" sz="2400" b="0" i="0" u="none" strike="noStrike">
              <a:solidFill>
                <a:srgbClr val="96969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第三章 · 参考答案</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参考答案</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495935" y="1841500"/>
            <a:ext cx="11289665" cy="4318000"/>
          </a:xfrm>
          <a:prstGeom prst="rect">
            <a:avLst/>
          </a:prstGeom>
          <a:noFill/>
          <a:ln w="12700" cap="flat" cmpd="sng">
            <a:noFill/>
            <a:prstDash val="solid"/>
            <a:round/>
          </a:ln>
        </p:spPr>
        <p:txBody>
          <a:bodyPr vert="horz" wrap="square" lIns="0" tIns="0" rIns="0" bIns="0" rtlCol="0" anchor="ctr" anchorCtr="0"/>
          <a:lstStyle/>
          <a:p>
            <a:pPr marL="0" indent="0" algn="l">
              <a:lnSpc>
                <a:spcPct val="146000"/>
              </a:lnSpc>
              <a:defRPr/>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毛泽东在《〈共产党人〉发刊词》中提出：统一战线、武装斗争、党的建设是中国共产党在中国革命中战胜敌人的三个主要法宝。</a:t>
            </a:r>
            <a:endParaRPr lang="en-US" sz="1800" b="1"/>
          </a:p>
          <a:p>
            <a:pPr marL="0" indent="0" algn="l">
              <a:lnSpc>
                <a:spcPct val="146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相互关系：</a:t>
            </a:r>
            <a:endPar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6000"/>
              </a:lnSpc>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（1）统一战线和武装斗争，是战胜敌人的两个基本武器；</a:t>
            </a:r>
            <a:endPar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6000"/>
              </a:lnSpc>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（2）统一战线，是实行武装斗争的统一战线；</a:t>
            </a:r>
            <a:endPar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6000"/>
              </a:lnSpc>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（3）党的组织，则是掌握统一战线和武装斗争这两个武器以实行对敌冲锋陷阵的英勇战士。</a:t>
            </a:r>
            <a:endPar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6000"/>
              </a:lnSpc>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正确理解了这三个问题及其相互关系，就等于正确领导了全部中国革命。</a:t>
            </a:r>
            <a:endPar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第四章</a:t>
            </a:r>
            <a:endParaRPr lang="en-US" sz="1100"/>
          </a:p>
        </p:txBody>
      </p:sp>
      <p:sp>
        <p:nvSpPr>
          <p:cNvPr id="3" name="AutoShape 3"/>
          <p:cNvSpPr/>
          <p:nvPr/>
        </p:nvSpPr>
        <p:spPr>
          <a:xfrm>
            <a:off x="1016000" y="889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社会主义改造理论</a:t>
            </a:r>
            <a:endParaRPr lang="en-US" sz="1100"/>
          </a:p>
        </p:txBody>
      </p:sp>
      <p:cxnSp>
        <p:nvCxnSpPr>
          <p:cNvPr id="4" name="Connector 4"/>
          <p:cNvCxnSpPr/>
          <p:nvPr/>
        </p:nvCxnSpPr>
        <p:spPr>
          <a:xfrm rot="-42969">
            <a:off x="1016040" y="1644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534035" y="2019300"/>
            <a:ext cx="10984230" cy="4064000"/>
          </a:xfrm>
          <a:prstGeom prst="rect">
            <a:avLst/>
          </a:prstGeom>
          <a:noFill/>
          <a:ln w="12700" cap="flat" cmpd="sng">
            <a:noFill/>
            <a:prstDash val="solid"/>
            <a:round/>
          </a:ln>
        </p:spPr>
        <p:txBody>
          <a:bodyPr vert="horz" wrap="square" lIns="0" tIns="0" rIns="0" bIns="0" rtlCol="0" anchor="ctr" anchorCtr="0"/>
          <a:lstStyle/>
          <a:p>
            <a:pPr marL="0" indent="0" algn="l">
              <a:lnSpc>
                <a:spcPct val="170000"/>
              </a:lnSpc>
              <a:defRPr/>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考点1</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新民主主义社会是</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过渡性质</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的社会</a:t>
            </a:r>
            <a:endParaRPr lang="en-US" sz="2200"/>
          </a:p>
          <a:p>
            <a:pPr marL="0" indent="0" algn="l">
              <a:lnSpc>
                <a:spcPct val="170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考点2</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过渡时期总路线（一化三改）：</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逐步实现社会主义工业化（主体），逐步实现对农业、手工业和资本主义工商业的社会主义改造（两翼）</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考点3</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对资本主义工商业实行</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和平赎买</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政策（中国特色改造道路）</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考点4</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1956年三大改造基本完成，标志着</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社会主义基本制度确立</a:t>
            </a:r>
            <a:endPar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是中国历史上最深刻最伟大的社会变革，为当代中国一切发展进步奠定了根本政治前提和制度基础</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第四章 · 历年真题</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真题精练</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2032000"/>
            <a:ext cx="10160000" cy="3556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28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【简答题】</a:t>
            </a:r>
            <a:r>
              <a:rPr lang="en-US" sz="2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简述社会主义改造基本完成的历史意义。</a:t>
            </a:r>
            <a:endParaRPr lang="en-US" sz="1800"/>
          </a:p>
          <a:p>
            <a:pPr marL="0" indent="0" algn="l">
              <a:lnSpc>
                <a:spcPct val="167000"/>
              </a:lnSpc>
            </a:pPr>
            <a:r>
              <a:rPr lang="en-US" sz="2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800" b="0" i="0" u="none" strike="noStrike">
                <a:solidFill>
                  <a:srgbClr val="969696"/>
                </a:solidFill>
                <a:latin typeface="微软雅黑" panose="020B0503020204020204" charset="-122"/>
                <a:ea typeface="微软雅黑" panose="020B0503020204020204" charset="-122"/>
                <a:cs typeface="微软雅黑" panose="020B0503020204020204" charset="-122"/>
                <a:sym typeface="微软雅黑" panose="020B0503020204020204" charset="-122"/>
              </a:rPr>
              <a:t>（先列要点，下一页看答案）</a:t>
            </a:r>
            <a:endParaRPr lang="en-US" sz="2800" b="0" i="0" u="none" strike="noStrike">
              <a:solidFill>
                <a:srgbClr val="96969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第四章 · 参考答案</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参考答案</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280670" y="1905000"/>
            <a:ext cx="11644630" cy="406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1956年社会主义改造基本完成的历史意义：</a:t>
            </a:r>
            <a:endParaRPr lang="en-US" sz="1800"/>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（1）实现了生产资料私有制向社会主义公有制的转变，</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社会主义基本制度在中国确立</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（2）是中国历史上</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最深刻最伟大的社会变革</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（3）为当代中国一切发展进步奠定了</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根本政治前提和制度基础</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（4）丰富和发展了马克思主义关于社会主义改造的理论；</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（5）标志着我国进入社会主义初级阶段。</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第五章</a:t>
            </a:r>
            <a:endParaRPr lang="en-US" sz="1100"/>
          </a:p>
        </p:txBody>
      </p:sp>
      <p:sp>
        <p:nvSpPr>
          <p:cNvPr id="3" name="AutoShape 3"/>
          <p:cNvSpPr/>
          <p:nvPr/>
        </p:nvSpPr>
        <p:spPr>
          <a:xfrm>
            <a:off x="1016000" y="889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社会主义建设道路初步探索的理论成果</a:t>
            </a:r>
            <a:endParaRPr lang="en-US" sz="1100"/>
          </a:p>
        </p:txBody>
      </p:sp>
      <p:cxnSp>
        <p:nvCxnSpPr>
          <p:cNvPr id="4" name="Connector 4"/>
          <p:cNvCxnSpPr/>
          <p:nvPr/>
        </p:nvCxnSpPr>
        <p:spPr>
          <a:xfrm rot="-42969">
            <a:off x="1016040" y="1644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419735" y="1943100"/>
            <a:ext cx="11225530" cy="4064000"/>
          </a:xfrm>
          <a:prstGeom prst="rect">
            <a:avLst/>
          </a:prstGeom>
          <a:noFill/>
          <a:ln w="12700" cap="flat" cmpd="sng">
            <a:noFill/>
            <a:prstDash val="solid"/>
            <a:round/>
          </a:ln>
        </p:spPr>
        <p:txBody>
          <a:bodyPr vert="horz" wrap="square" lIns="0" tIns="0" rIns="0" bIns="0" rtlCol="0" anchor="ctr" anchorCtr="0"/>
          <a:lstStyle/>
          <a:p>
            <a:pPr marL="0" indent="0" algn="l">
              <a:lnSpc>
                <a:spcPct val="170000"/>
              </a:lnSpc>
              <a:defRPr/>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考点1</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《论十大关系》（1956年）：</a:t>
            </a:r>
            <a:endParaRPr lang="en-US" sz="2200"/>
          </a:p>
          <a:p>
            <a:pPr marL="0" indent="0" algn="l">
              <a:lnSpc>
                <a:spcPct val="170000"/>
              </a:lnSpc>
            </a:pP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标志着党探索中国自己的社会主义建设道路的</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开端</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；基本方针是</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调动一切积极因素为社会主义事业服务</a:t>
            </a:r>
            <a:endPar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考点2</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《关于正确处理人民内部矛盾的问题》（1957年）：</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社会主义社会基本矛盾仍然是</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生产力和生产关系、经济基础和上层建筑</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的矛盾</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两类不同性质矛盾：</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敌我矛盾</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（用专政方法解决）和</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人民内部矛盾</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（用民主方法、说服教育方法解决）</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70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考点3</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初步探索意义：为开创中国特色社会主义提供了宝贵经验、理论准备、物质基础</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第五章 · 历年真题</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真题精练：两类矛盾学说</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2032000"/>
            <a:ext cx="10160000" cy="3556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【选择题】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毛泽东在《关于正确处理人民内部矛盾的问题》中指出，处理人民内部矛盾实行（　）</a:t>
            </a:r>
            <a:endParaRPr lang="en-US" sz="1600"/>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专政的方法</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B. 民主的方法、说服教育的方法</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C. 批评与自我批评的方法</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D. 团结——批评——团结的方法</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第五章 · 答案与解析</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答案解析</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2286000"/>
            <a:ext cx="10160000" cy="3048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答案：B</a:t>
            </a:r>
            <a:endParaRPr lang="en-US" sz="1600"/>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解析：敌我矛盾是对抗性矛盾，用</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专政</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方法解决；人民内部矛盾是在人民利益根本一致基础上的矛盾，只能用</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民主的方法、说服教育</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的方法解决。</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注意：D"团结——批评——团结"是解决人民内部矛盾的具体公式之一，不是总方法。</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第六章</a:t>
            </a:r>
            <a:endParaRPr lang="en-US" sz="1100"/>
          </a:p>
        </p:txBody>
      </p:sp>
      <p:sp>
        <p:nvSpPr>
          <p:cNvPr id="3" name="AutoShape 3"/>
          <p:cNvSpPr/>
          <p:nvPr/>
        </p:nvSpPr>
        <p:spPr>
          <a:xfrm>
            <a:off x="1016000" y="889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中国特色社会主义理论体系的形成发展</a:t>
            </a:r>
            <a:endParaRPr lang="en-US" sz="1100"/>
          </a:p>
        </p:txBody>
      </p:sp>
      <p:cxnSp>
        <p:nvCxnSpPr>
          <p:cNvPr id="4" name="Connector 4"/>
          <p:cNvCxnSpPr/>
          <p:nvPr/>
        </p:nvCxnSpPr>
        <p:spPr>
          <a:xfrm rot="-42969">
            <a:off x="1016040" y="1644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393700" y="2171700"/>
            <a:ext cx="11504930" cy="3810000"/>
          </a:xfrm>
          <a:prstGeom prst="rect">
            <a:avLst/>
          </a:prstGeom>
          <a:noFill/>
          <a:ln w="12700" cap="flat" cmpd="sng">
            <a:noFill/>
            <a:prstDash val="solid"/>
            <a:round/>
          </a:ln>
        </p:spPr>
        <p:txBody>
          <a:bodyPr vert="horz" wrap="square" lIns="0" tIns="0" rIns="0" bIns="0" rtlCol="0" anchor="ctr" anchorCtr="0"/>
          <a:lstStyle/>
          <a:p>
            <a:pPr marL="0" indent="0" algn="l">
              <a:lnSpc>
                <a:spcPct val="158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考点1</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中国特色社会主义理论体系</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不包括毛泽东思想</a:t>
            </a:r>
            <a:endParaRPr lang="en-US" sz="1800"/>
          </a:p>
          <a:p>
            <a:pPr marL="0" indent="0" algn="l">
              <a:lnSpc>
                <a:spcPct val="158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包括：邓小平理论、"三个代表"重要思想、科学发展观、习近平新时代中国特色社会主义思想</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8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考点2</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历史起点：党的</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十一届三中全会</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（1978年）</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8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考点3</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精髓：解放思想、实事求是、与时俱进、求真务实</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8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考点4</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邓小平理论：开创中国特色社会主义</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8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"三个代表"重要思想：把中国特色社会主义推向21世纪</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8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科学发展观：在新的历史起点上坚持和发展中国特色社会主义</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第六章 · 历年真题</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真题精练</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2286000"/>
            <a:ext cx="10756265" cy="3556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28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【选择题】</a:t>
            </a:r>
            <a:r>
              <a:rPr lang="en-US" sz="2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下列理论成果中，不属于中国特色社会主义理论体系的是（　）</a:t>
            </a:r>
            <a:endParaRPr lang="en-US" sz="1800"/>
          </a:p>
          <a:p>
            <a:pPr marL="0" indent="0" algn="l">
              <a:lnSpc>
                <a:spcPct val="167000"/>
              </a:lnSpc>
            </a:pPr>
            <a:r>
              <a:rPr lang="en-US" sz="2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邓小平理论</a:t>
            </a:r>
            <a:endParaRPr lang="en-US" sz="2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B. 毛泽东思想</a:t>
            </a:r>
            <a:endParaRPr lang="en-US" sz="2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C. 科学发展观</a:t>
            </a:r>
            <a:endParaRPr lang="en-US" sz="2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D. 习近平新时代中国特色社会主义思想</a:t>
            </a:r>
            <a:endParaRPr lang="en-US" sz="2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第六章 · 答案与解析</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答案解析</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2286000"/>
            <a:ext cx="10160000" cy="3048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答案：B</a:t>
            </a:r>
            <a:endParaRPr lang="en-US" sz="1600"/>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解析：中国特色社会主义理论体系是在</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改革开放历史新时期</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形成的，包括邓小平理论、"三个代表"重要思想、科学发展观、习近平新时代中国特色社会主义思想。</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毛泽东思想是关于中国革命和建设的理论，是第一次历史性飞跃的成果，不包括在中国特色社会主义理论体系之中。</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第七章</a:t>
            </a:r>
            <a:endParaRPr lang="en-US" sz="1100"/>
          </a:p>
        </p:txBody>
      </p:sp>
      <p:sp>
        <p:nvSpPr>
          <p:cNvPr id="3" name="AutoShape 3"/>
          <p:cNvSpPr/>
          <p:nvPr/>
        </p:nvSpPr>
        <p:spPr>
          <a:xfrm>
            <a:off x="1016000" y="889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邓小平理论</a:t>
            </a:r>
            <a:endParaRPr lang="en-US" sz="1100"/>
          </a:p>
        </p:txBody>
      </p:sp>
      <p:cxnSp>
        <p:nvCxnSpPr>
          <p:cNvPr id="4" name="Connector 4"/>
          <p:cNvCxnSpPr/>
          <p:nvPr/>
        </p:nvCxnSpPr>
        <p:spPr>
          <a:xfrm rot="-42969">
            <a:off x="1016040" y="1644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318135" y="1905000"/>
            <a:ext cx="11441430" cy="4064000"/>
          </a:xfrm>
          <a:prstGeom prst="rect">
            <a:avLst/>
          </a:prstGeom>
          <a:noFill/>
          <a:ln w="12700" cap="flat" cmpd="sng">
            <a:noFill/>
            <a:prstDash val="solid"/>
            <a:round/>
          </a:ln>
        </p:spPr>
        <p:txBody>
          <a:bodyPr vert="horz" wrap="square" lIns="0" tIns="0" rIns="0" bIns="0" rtlCol="0" anchor="ctr" anchorCtr="0"/>
          <a:lstStyle/>
          <a:p>
            <a:pPr marL="0" indent="0" algn="l">
              <a:lnSpc>
                <a:spcPct val="160000"/>
              </a:lnSpc>
              <a:defRPr/>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考点1</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首要基本问题：</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什么是社会主义、怎样建设社会主义</a:t>
            </a:r>
            <a:endParaRPr lang="en-US" sz="2200"/>
          </a:p>
          <a:p>
            <a:pPr marL="0" indent="0" algn="l">
              <a:lnSpc>
                <a:spcPct val="160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考点2</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社会主义本质：</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0000"/>
              </a:lnSpc>
            </a:pP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解放生产力，发展生产力，消灭剥削，消除两极分化，最终达到共同富裕</a:t>
            </a:r>
            <a:endPar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0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考点3</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社会主义初级阶段基本路线：</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0000"/>
              </a:lnSpc>
            </a:pP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2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一个中心，两个基本点</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——以经济建设为中心，坚持四项基本原则，坚持改革开放</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0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考点4</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"三个有利于"判断标准：是否有利于发展社会主义社会的生产力、是否有利于增强社会主义国家的综合国力、是否有利于提高人民生活水平</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0000"/>
              </a:lnSpc>
            </a:pPr>
            <a:r>
              <a:rPr lang="en-US" sz="22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考点5</a:t>
            </a:r>
            <a:r>
              <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中共十五大确立邓小平理论为党的指导思想</a:t>
            </a:r>
            <a:endParaRPr lang="en-US" sz="2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第七章 · 历年真题</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真题精练：社会主义本质</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2032000"/>
            <a:ext cx="10160000" cy="3556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【简答题】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简述社会主义的本质。</a:t>
            </a:r>
            <a:endParaRPr lang="en-US" sz="1600"/>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7000"/>
              </a:lnSpc>
            </a:pPr>
            <a:r>
              <a:rPr lang="en-US" sz="2400" b="0" i="0" u="none" strike="noStrike">
                <a:solidFill>
                  <a:srgbClr val="969696"/>
                </a:solidFill>
                <a:latin typeface="微软雅黑" panose="020B0503020204020204" charset="-122"/>
                <a:ea typeface="微软雅黑" panose="020B0503020204020204" charset="-122"/>
                <a:cs typeface="微软雅黑" panose="020B0503020204020204" charset="-122"/>
                <a:sym typeface="微软雅黑" panose="020B0503020204020204" charset="-122"/>
              </a:rPr>
              <a:t>（这是必背内容，下一页对答案）</a:t>
            </a:r>
            <a:endParaRPr lang="en-US" sz="2400" b="0" i="0" u="none" strike="noStrike">
              <a:solidFill>
                <a:srgbClr val="96969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第八章</a:t>
            </a:r>
            <a:endParaRPr lang="en-US" sz="1100"/>
          </a:p>
        </p:txBody>
      </p:sp>
      <p:sp>
        <p:nvSpPr>
          <p:cNvPr id="3" name="AutoShape 3"/>
          <p:cNvSpPr/>
          <p:nvPr/>
        </p:nvSpPr>
        <p:spPr>
          <a:xfrm>
            <a:off x="1016000" y="889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"三个代表"重要思想</a:t>
            </a:r>
            <a:endParaRPr lang="en-US" sz="1100"/>
          </a:p>
        </p:txBody>
      </p:sp>
      <p:cxnSp>
        <p:nvCxnSpPr>
          <p:cNvPr id="4" name="Connector 4"/>
          <p:cNvCxnSpPr/>
          <p:nvPr/>
        </p:nvCxnSpPr>
        <p:spPr>
          <a:xfrm rot="-42969">
            <a:off x="1016040" y="1644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800100" y="2032000"/>
            <a:ext cx="10375900" cy="3810000"/>
          </a:xfrm>
          <a:prstGeom prst="rect">
            <a:avLst/>
          </a:prstGeom>
          <a:noFill/>
          <a:ln w="12700" cap="flat" cmpd="sng">
            <a:noFill/>
            <a:prstDash val="solid"/>
            <a:round/>
          </a:ln>
        </p:spPr>
        <p:txBody>
          <a:bodyPr vert="horz" wrap="square" lIns="0" tIns="0" rIns="0" bIns="0" rtlCol="0" anchor="ctr" anchorCtr="0"/>
          <a:lstStyle/>
          <a:p>
            <a:pPr marL="0" indent="0" algn="l">
              <a:lnSpc>
                <a:spcPct val="168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考点1</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集中概括：</a:t>
            </a:r>
            <a:endParaRPr lang="en-US" sz="1800"/>
          </a:p>
          <a:p>
            <a:pPr marL="0" indent="0" algn="l">
              <a:lnSpc>
                <a:spcPct val="168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中国共产党必须始终代表中国</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先进生产力的发展要求</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8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代表中国</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先进文化的前进方向</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8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代表中国</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最广大人民的根本利益</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8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考点2</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回答的基本问题：</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建设什么样的党、怎样建设党</a:t>
            </a:r>
            <a:endPar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8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考点3</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地位：立党之本、执政之基、力量之源</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68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考点4</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中共十六大确立为党的指导思想</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1905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第八、九章 · 历年真题</a:t>
            </a:r>
            <a:endParaRPr lang="en-US" sz="1100"/>
          </a:p>
        </p:txBody>
      </p:sp>
      <p:sp>
        <p:nvSpPr>
          <p:cNvPr id="3" name="AutoShape 3"/>
          <p:cNvSpPr/>
          <p:nvPr/>
        </p:nvSpPr>
        <p:spPr>
          <a:xfrm>
            <a:off x="1016000" y="5715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真题精练</a:t>
            </a:r>
            <a:endParaRPr lang="en-US" sz="1100"/>
          </a:p>
        </p:txBody>
      </p:sp>
      <p:cxnSp>
        <p:nvCxnSpPr>
          <p:cNvPr id="4" name="Connector 4"/>
          <p:cNvCxnSpPr/>
          <p:nvPr/>
        </p:nvCxnSpPr>
        <p:spPr>
          <a:xfrm rot="-42969">
            <a:off x="1016040" y="12001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1816100"/>
            <a:ext cx="10160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【第1题】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"三个代表"重要思想回答的基本问题是（　）</a:t>
            </a:r>
            <a:endParaRPr lang="en-US" sz="1800"/>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什么是社会主义、怎样建设社会主义</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B. 建设什么样的党、怎样建设党</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C. 实现什么样的发展、怎样发展</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D. 新时代坚持和发展什么样的中国特色社会主义</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1016000" y="4356100"/>
            <a:ext cx="10160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【第2题】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科学发展观的核心立场是（　）</a:t>
            </a:r>
            <a:endParaRPr lang="en-US" sz="1800"/>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发展　　                         B. 以人为本</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C. 全面协调可持续　　        D. 统筹兼顾</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第八、九章 · 答案与解析</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答案解析</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1905000"/>
            <a:ext cx="10160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【第1题】答案：B</a:t>
            </a:r>
            <a:endParaRPr lang="en-US" sz="1800"/>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解析：邓小平理论回答"什么是社会主义、怎样建设社会主义"；"三个代表"回答"建设什么样的党、怎样建设党"；科学发展观回答"实现什么样的发展、怎样发展"。</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1016000" y="3937000"/>
            <a:ext cx="10160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【第2题】答案：B</a:t>
            </a:r>
            <a:endParaRPr lang="en-US" sz="1800"/>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解析：科学发展观第一要义是</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发展</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，核心立场是</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以人为本</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，基本要求是</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全面协调可持续</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，根本方法是</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统筹兼顾</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第二部分 · 第七章 · 参考答案</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参考答案</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2159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社会主义的本质是：</a:t>
            </a:r>
            <a:endParaRPr lang="en-US" sz="36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1016000" y="3048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解放生产力，发展生产力，</a:t>
            </a:r>
            <a:endParaRPr lang="en-US" sz="4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AutoShape 7"/>
          <p:cNvSpPr/>
          <p:nvPr/>
        </p:nvSpPr>
        <p:spPr>
          <a:xfrm>
            <a:off x="1016000" y="3937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消灭剥削，消除两极分化，</a:t>
            </a:r>
            <a:endParaRPr lang="en-US" sz="4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AutoShape 8"/>
          <p:cNvSpPr/>
          <p:nvPr/>
        </p:nvSpPr>
        <p:spPr>
          <a:xfrm>
            <a:off x="1016000" y="4826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最终达到共同富裕。</a:t>
            </a:r>
            <a:endParaRPr lang="en-US" sz="4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8B2E2E">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47700" y="762000"/>
            <a:ext cx="10160000" cy="635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2400" b="0" i="0" u="none" strike="noStrike">
                <a:solidFill>
                  <a:srgbClr val="FFFFFF">
                    <a:alpha val="7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PART THREE</a:t>
            </a:r>
            <a:endParaRPr lang="en-US" sz="2400" b="0" i="0" u="none" strike="noStrike">
              <a:solidFill>
                <a:srgbClr val="FFFFFF">
                  <a:alpha val="7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nvSpPr>
        <p:spPr>
          <a:xfrm>
            <a:off x="647700" y="1397000"/>
            <a:ext cx="10160000" cy="889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4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习近平新时代中国特色</a:t>
            </a:r>
            <a:endParaRPr lang="en-US" sz="4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nvSpPr>
        <p:spPr>
          <a:xfrm>
            <a:off x="647700" y="2159000"/>
            <a:ext cx="10160000" cy="889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4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社会主义思想概论</a:t>
            </a:r>
            <a:endParaRPr lang="en-US" sz="4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5" name="Connector 5"/>
          <p:cNvCxnSpPr/>
          <p:nvPr/>
        </p:nvCxnSpPr>
        <p:spPr>
          <a:xfrm rot="-28647">
            <a:off x="647726" y="3295650"/>
            <a:ext cx="1524000" cy="12700"/>
          </a:xfrm>
          <a:prstGeom prst="straightConnector1">
            <a:avLst/>
          </a:prstGeom>
          <a:solidFill>
            <a:srgbClr val="DEE0E3">
              <a:alpha val="100000"/>
            </a:srgbClr>
          </a:solidFill>
          <a:ln w="25400" cap="flat" cmpd="sng">
            <a:solidFill>
              <a:srgbClr val="FFFFFF">
                <a:alpha val="60000"/>
              </a:srgbClr>
            </a:solidFill>
            <a:prstDash val="solid"/>
            <a:round/>
            <a:headEnd type="none" w="lg" len="lg"/>
            <a:tailEnd type="none" w="lg" len="lg"/>
          </a:ln>
        </p:spPr>
      </p:cxnSp>
      <p:sp>
        <p:nvSpPr>
          <p:cNvPr id="6" name="AutoShape 6"/>
          <p:cNvSpPr/>
          <p:nvPr/>
        </p:nvSpPr>
        <p:spPr>
          <a:xfrm>
            <a:off x="647700" y="3556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共18章 · 约50分 · 重中之重 · 选择+简答+论述全题型覆盖</a:t>
            </a:r>
            <a:endParaRPr lang="en-US" sz="2000" b="0" i="0" u="none" strike="noStrike">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381000"/>
            <a:ext cx="10160000" cy="4445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第一章</a:t>
            </a:r>
            <a:endParaRPr lang="en-US" sz="1100"/>
          </a:p>
        </p:txBody>
      </p:sp>
      <p:sp>
        <p:nvSpPr>
          <p:cNvPr id="3" name="AutoShape 3"/>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习近平新时代中国特色社会主义思想的创立</a:t>
            </a:r>
            <a:endParaRPr lang="en-US" sz="1100"/>
          </a:p>
        </p:txBody>
      </p:sp>
      <p:cxnSp>
        <p:nvCxnSpPr>
          <p:cNvPr id="4" name="Connector 4"/>
          <p:cNvCxnSpPr/>
          <p:nvPr/>
        </p:nvCxnSpPr>
        <p:spPr>
          <a:xfrm rot="-42969">
            <a:off x="1016040" y="13271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596900" y="1460500"/>
            <a:ext cx="11061065" cy="2286000"/>
          </a:xfrm>
          <a:prstGeom prst="rect">
            <a:avLst/>
          </a:prstGeom>
          <a:noFill/>
          <a:ln w="12700" cap="flat" cmpd="sng">
            <a:noFill/>
            <a:prstDash val="solid"/>
            <a:round/>
          </a:ln>
        </p:spPr>
        <p:txBody>
          <a:bodyPr vert="horz" wrap="square" lIns="0" tIns="0" rIns="0" bIns="0" rtlCol="0" anchor="ctr" anchorCtr="0"/>
          <a:lstStyle/>
          <a:p>
            <a:pPr marL="0" indent="0" algn="l">
              <a:lnSpc>
                <a:spcPct val="138000"/>
              </a:lnSpc>
              <a:defRPr/>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时代背景——世界百年未有之大变局+中华民族伟大复兴战略全局</a:t>
            </a:r>
            <a:endParaRPr lang="en-US" sz="1800"/>
          </a:p>
          <a:p>
            <a:pPr marL="0" indent="0" algn="l">
              <a:lnSpc>
                <a:spcPct val="138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重大时代课题：新时代坚持和发展什么样的中国特色社会主义、怎样坚持和发展；建设什么样的社会主义现代化强国、怎样建设；建设什么样的长期执政的马克思主义政党、怎样建设</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38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主要内容：十个明确、十四个坚持、十三个方面成就</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38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定位：当代中国马克思主义、二十一世纪马克思主义，实现了马克思主义中国化时代化</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新的飞跃</a:t>
            </a:r>
            <a:endPar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596900" y="3937000"/>
            <a:ext cx="11061065" cy="2286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习近平新时代中国特色社会主义思想实现了马克思主义中国化时代化的（　）</a:t>
            </a:r>
            <a:endParaRPr lang="en-US" sz="1800"/>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第一次历史性飞跃　　B. 新的飞跃</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C. 第二次历史性飞跃　　D. 第三个里程碑</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第一章 · 答案</a:t>
            </a:r>
            <a:endParaRPr lang="en-US" sz="1100"/>
          </a:p>
        </p:txBody>
      </p:sp>
      <p:sp>
        <p:nvSpPr>
          <p:cNvPr id="3" name="AutoShape 3"/>
          <p:cNvSpPr/>
          <p:nvPr/>
        </p:nvSpPr>
        <p:spPr>
          <a:xfrm>
            <a:off x="711200" y="1739900"/>
            <a:ext cx="10768965" cy="2540000"/>
          </a:xfrm>
          <a:prstGeom prst="rect">
            <a:avLst/>
          </a:prstGeom>
          <a:noFill/>
          <a:ln w="12700" cap="flat" cmpd="sng">
            <a:noFill/>
            <a:prstDash val="solid"/>
            <a:round/>
          </a:ln>
        </p:spPr>
        <p:txBody>
          <a:bodyPr vert="horz" wrap="square" lIns="0" tIns="0" rIns="0" bIns="0" rtlCol="0" anchor="ctr" anchorCtr="0"/>
          <a:lstStyle/>
          <a:p>
            <a:pPr marL="0" indent="0" algn="l">
              <a:lnSpc>
                <a:spcPct val="158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答案：B</a:t>
            </a:r>
            <a:endParaRPr lang="en-US" sz="1600"/>
          </a:p>
          <a:p>
            <a:pPr marL="0" indent="0" algn="l">
              <a:lnSpc>
                <a:spcPct val="158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解析：习近平新时代中国特色社会主义思想是马克思主义中国化时代化</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新的飞跃</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8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注意表述：第一次历史性飞跃是毛泽东思想；改革开放后形成的中国特色社会主义理论体系是新的飞跃；习近平新时代中国特色社会主义思想是</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新的飞跃</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（区别于前两次的表述）。</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381000"/>
            <a:ext cx="10160000" cy="4445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第二章</a:t>
            </a:r>
            <a:endParaRPr lang="en-US" sz="1100"/>
          </a:p>
        </p:txBody>
      </p:sp>
      <p:sp>
        <p:nvSpPr>
          <p:cNvPr id="3" name="AutoShape 3"/>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新时代坚持和发展中国特色社会主义</a:t>
            </a:r>
            <a:endParaRPr lang="en-US" sz="1100"/>
          </a:p>
        </p:txBody>
      </p:sp>
      <p:cxnSp>
        <p:nvCxnSpPr>
          <p:cNvPr id="4" name="Connector 4"/>
          <p:cNvCxnSpPr/>
          <p:nvPr/>
        </p:nvCxnSpPr>
        <p:spPr>
          <a:xfrm rot="-42969">
            <a:off x="1016040" y="13271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241935" y="1460500"/>
            <a:ext cx="11859260" cy="2286000"/>
          </a:xfrm>
          <a:prstGeom prst="rect">
            <a:avLst/>
          </a:prstGeom>
          <a:noFill/>
          <a:ln w="12700" cap="flat" cmpd="sng">
            <a:noFill/>
            <a:prstDash val="solid"/>
            <a:round/>
          </a:ln>
        </p:spPr>
        <p:txBody>
          <a:bodyPr vert="horz" wrap="square" lIns="0" tIns="0" rIns="0" bIns="0" rtlCol="0" anchor="ctr" anchorCtr="0"/>
          <a:lstStyle/>
          <a:p>
            <a:pPr marL="0" indent="0" algn="l">
              <a:lnSpc>
                <a:spcPct val="138000"/>
              </a:lnSpc>
              <a:defRPr/>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新时代社会主要矛盾：</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人民日益增长的美好生活需要和不平衡不充分的发展之间的矛盾</a:t>
            </a:r>
            <a:endParaRPr lang="en-US" sz="1800"/>
          </a:p>
          <a:p>
            <a:pPr marL="0" indent="0" algn="l">
              <a:lnSpc>
                <a:spcPct val="138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两个没有变：我国仍处于并将长期处于社会主义初级阶段的基本国情没有变；我国是世界最大发展中国家的国际地位没有变</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38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四个自信：道路自信、理论自信、制度自信、文化自信</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38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四个伟大：伟大斗争、伟大工程、伟大事业、伟大梦想，其中起决定性作用的是</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党的建设新的伟大工程</a:t>
            </a:r>
            <a:endPar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292735" y="4038600"/>
            <a:ext cx="11859260" cy="2286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新时代我国社会主要矛盾是（　）</a:t>
            </a:r>
            <a:endParaRPr lang="en-US" sz="1800"/>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无产阶级和资产阶级的矛盾</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B. 人民日益增长的物质文化需要同落后的社会生产之间的矛盾</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C. 人民日益增长的美好生活需要和不平衡不充分的发展之间的矛盾</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D. 人民对于建立先进的工业国的要求同落后的农业国的现实之间的矛盾</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第二章 · 答案</a:t>
            </a:r>
            <a:endParaRPr lang="en-US" sz="1100"/>
          </a:p>
        </p:txBody>
      </p:sp>
      <p:sp>
        <p:nvSpPr>
          <p:cNvPr id="3" name="AutoShape 3"/>
          <p:cNvSpPr/>
          <p:nvPr/>
        </p:nvSpPr>
        <p:spPr>
          <a:xfrm>
            <a:off x="939800" y="1498600"/>
            <a:ext cx="1016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58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答案：C</a:t>
            </a:r>
            <a:endParaRPr lang="en-US" sz="1600"/>
          </a:p>
          <a:p>
            <a:pPr marL="0" indent="0" algn="l">
              <a:lnSpc>
                <a:spcPct val="158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解析：新时代社会主要矛盾是</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人民日益增长的美好生活需要和不平衡不充分的发展之间的矛盾</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8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B选项是1981年十一届六中全会的表述，已过时。</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
            <a:ext cx="10160000" cy="4445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第三章</a:t>
            </a:r>
            <a:endParaRPr lang="en-US" sz="1100"/>
          </a:p>
        </p:txBody>
      </p:sp>
      <p:sp>
        <p:nvSpPr>
          <p:cNvPr id="3" name="AutoShape 3"/>
          <p:cNvSpPr/>
          <p:nvPr/>
        </p:nvSpPr>
        <p:spPr>
          <a:xfrm>
            <a:off x="1016000" y="4318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以中国式现代化全面推进中华民族伟大复兴</a:t>
            </a:r>
            <a:endParaRPr lang="en-US" sz="1100"/>
          </a:p>
        </p:txBody>
      </p:sp>
      <p:cxnSp>
        <p:nvCxnSpPr>
          <p:cNvPr id="4" name="Connector 4"/>
          <p:cNvCxnSpPr/>
          <p:nvPr/>
        </p:nvCxnSpPr>
        <p:spPr>
          <a:xfrm rot="-42969">
            <a:off x="1016040" y="9969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356235" y="1663700"/>
            <a:ext cx="11467465" cy="2413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8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考点：中国式现代化五大特征：</a:t>
            </a:r>
            <a:endParaRPr lang="en-US" sz="1600"/>
          </a:p>
          <a:p>
            <a:pPr marL="0" indent="0" algn="l">
              <a:lnSpc>
                <a:spcPct val="133000"/>
              </a:lnSpc>
            </a:pP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① 人口规模巨大的现代化</a:t>
            </a:r>
            <a:endPar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33000"/>
              </a:lnSpc>
            </a:pP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② 全体人民共同富裕的现代化</a:t>
            </a:r>
            <a:endPar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33000"/>
              </a:lnSpc>
            </a:pP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③ 物质文明和精神文明相协调的现代化</a:t>
            </a:r>
            <a:endPar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33000"/>
              </a:lnSpc>
            </a:pP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④ 人与自然和谐共生的现代化</a:t>
            </a:r>
            <a:endPar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33000"/>
              </a:lnSpc>
            </a:pP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⑤ 走和平发展道路的现代化</a:t>
            </a:r>
            <a:endPar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33000"/>
              </a:lnSpc>
            </a:pP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本质要求：坚持中国共产党领导，坚持中国特色社会主义，实现高质量发展，发展全过程人民民主……创造人类文明新形态</a:t>
            </a:r>
            <a:endPar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33000"/>
              </a:lnSpc>
            </a:pP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两步走：2020-2035基本实现现代化；2035-本世纪中叶建成现代化强国</a:t>
            </a:r>
            <a:endPar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356235" y="4762500"/>
            <a:ext cx="11467465" cy="2032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【真题·简答】</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简述中国式现代化的五个中国特色。</a:t>
            </a:r>
            <a:endParaRPr lang="en-US" sz="1600"/>
          </a:p>
          <a:p>
            <a:pPr marL="0" indent="0" algn="l">
              <a:lnSpc>
                <a:spcPct val="142000"/>
              </a:lnSpc>
            </a:pPr>
            <a:r>
              <a:rPr lang="en-US" sz="2000" b="0" i="0" u="none" strike="noStrike">
                <a:solidFill>
                  <a:srgbClr val="969696"/>
                </a:solidFill>
                <a:latin typeface="微软雅黑" panose="020B0503020204020204" charset="-122"/>
                <a:ea typeface="微软雅黑" panose="020B0503020204020204" charset="-122"/>
                <a:cs typeface="微软雅黑" panose="020B0503020204020204" charset="-122"/>
                <a:sym typeface="微软雅黑" panose="020B0503020204020204" charset="-122"/>
              </a:rPr>
              <a:t>（先列要点，下一页对答案）</a:t>
            </a:r>
            <a:endParaRPr lang="en-US" sz="2000" b="0" i="0" u="none" strike="noStrike">
              <a:solidFill>
                <a:srgbClr val="96969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第三章 · 参考答案</a:t>
            </a:r>
            <a:endParaRPr lang="en-US" sz="1100"/>
          </a:p>
        </p:txBody>
      </p:sp>
      <p:sp>
        <p:nvSpPr>
          <p:cNvPr id="3" name="AutoShape 3"/>
          <p:cNvSpPr/>
          <p:nvPr/>
        </p:nvSpPr>
        <p:spPr>
          <a:xfrm>
            <a:off x="1016000" y="1016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中国式现代化五个中国特色</a:t>
            </a:r>
            <a:endParaRPr lang="en-US" sz="1100"/>
          </a:p>
        </p:txBody>
      </p:sp>
      <p:cxnSp>
        <p:nvCxnSpPr>
          <p:cNvPr id="4" name="Connector 4"/>
          <p:cNvCxnSpPr/>
          <p:nvPr/>
        </p:nvCxnSpPr>
        <p:spPr>
          <a:xfrm rot="-42969">
            <a:off x="1016040" y="1644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521335" y="1905000"/>
            <a:ext cx="11073130" cy="4064000"/>
          </a:xfrm>
          <a:prstGeom prst="rect">
            <a:avLst/>
          </a:prstGeom>
          <a:noFill/>
          <a:ln w="12700" cap="flat" cmpd="sng">
            <a:noFill/>
            <a:prstDash val="solid"/>
            <a:round/>
          </a:ln>
        </p:spPr>
        <p:txBody>
          <a:bodyPr vert="horz" wrap="square" lIns="0" tIns="0" rIns="0" bIns="0" rtlCol="0" anchor="ctr" anchorCtr="0"/>
          <a:lstStyle/>
          <a:p>
            <a:pPr marL="0" indent="0" algn="l">
              <a:lnSpc>
                <a:spcPct val="158000"/>
              </a:lnSpc>
              <a:defRPr/>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中国式现代化，是</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中国共产党领导的社会主义现代化</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，既有各国现代化的共同特征，更有基于自己国情的中国特色：</a:t>
            </a:r>
            <a:endParaRPr lang="en-US" sz="1600"/>
          </a:p>
          <a:p>
            <a:pPr marL="0" indent="0" algn="l">
              <a:lnSpc>
                <a:spcPct val="158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（1）</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人口规模巨大</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的现代化——14亿多人口整体迈进现代化，规模超过现有发达国家人口总和；</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8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（2）</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全体人民共同富裕</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的现代化——不是少数人富裕，而是共同富裕；</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8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（3）</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物质文明和精神文明相协调</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的现代化——既要物质富足也要精神富有；</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8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（4）</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人与自然和谐共生</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的现代化——不走先污染后治理老路；</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8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（5）</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走和平发展道路</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的现代化——不靠殖民掠夺，而是和平发展。</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381000"/>
            <a:ext cx="10160000" cy="4445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第四章</a:t>
            </a:r>
            <a:endParaRPr lang="en-US" sz="1100"/>
          </a:p>
        </p:txBody>
      </p:sp>
      <p:sp>
        <p:nvSpPr>
          <p:cNvPr id="3" name="AutoShape 3"/>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坚持党的全面领导</a:t>
            </a:r>
            <a:endParaRPr lang="en-US" sz="1100"/>
          </a:p>
        </p:txBody>
      </p:sp>
      <p:cxnSp>
        <p:nvCxnSpPr>
          <p:cNvPr id="4" name="Connector 4"/>
          <p:cNvCxnSpPr/>
          <p:nvPr/>
        </p:nvCxnSpPr>
        <p:spPr>
          <a:xfrm rot="-42969">
            <a:off x="1016040" y="13271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330200" y="1460500"/>
            <a:ext cx="11124565" cy="2286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a:t>
            </a:r>
            <a:endParaRPr lang="en-US" sz="1800"/>
          </a:p>
          <a:p>
            <a:pPr marL="0" indent="0" algn="l">
              <a:lnSpc>
                <a:spcPct val="142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中国共产党领导是中国特色社会主义最本质的特征</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，是中国特色社会主义制度的最大优势</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"两个维护"：坚决维护习近平总书记党中央的核心、全党的核心地位，坚决维护党中央权威和集中统一领导</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党的领导是全面的、系统的、整体的；党中央集中统一领导是党的领导的最高原则</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1143000" y="3937000"/>
            <a:ext cx="108458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中国特色社会主义最本质的特征是（　）</a:t>
            </a:r>
            <a:endParaRPr lang="en-US" sz="1800"/>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人民当家作主　　B. 中国共产党领导</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C. 依法治国　　　　D. 公有制为主体</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第四章 · 答案</a:t>
            </a:r>
            <a:endParaRPr lang="en-US" sz="1100"/>
          </a:p>
        </p:txBody>
      </p:sp>
      <p:sp>
        <p:nvSpPr>
          <p:cNvPr id="3" name="AutoShape 3"/>
          <p:cNvSpPr/>
          <p:nvPr/>
        </p:nvSpPr>
        <p:spPr>
          <a:xfrm>
            <a:off x="889000" y="1524000"/>
            <a:ext cx="10160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58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答案：B</a:t>
            </a:r>
            <a:endParaRPr lang="en-US" sz="1600"/>
          </a:p>
          <a:p>
            <a:pPr marL="0" indent="0" algn="l">
              <a:lnSpc>
                <a:spcPct val="158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中国共产党领导是中国特色社会主义最本质的特征</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，是中国特色社会主义制度的最大优势。党是最高政治领导力量。</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381000"/>
            <a:ext cx="10160000" cy="4445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第五章</a:t>
            </a:r>
            <a:endParaRPr lang="en-US" sz="1100"/>
          </a:p>
        </p:txBody>
      </p:sp>
      <p:sp>
        <p:nvSpPr>
          <p:cNvPr id="3" name="AutoShape 3"/>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坚持以人民为中心</a:t>
            </a:r>
            <a:endParaRPr lang="en-US" sz="1100"/>
          </a:p>
        </p:txBody>
      </p:sp>
      <p:cxnSp>
        <p:nvCxnSpPr>
          <p:cNvPr id="4" name="Connector 4"/>
          <p:cNvCxnSpPr/>
          <p:nvPr/>
        </p:nvCxnSpPr>
        <p:spPr>
          <a:xfrm rot="-42969">
            <a:off x="1016040" y="13271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673100" y="1460500"/>
            <a:ext cx="105029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a:t>
            </a:r>
            <a:endParaRPr lang="en-US" sz="2000"/>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江山就是人民，人民就是江山；人民对美好生活的向往就是我们的奋斗目标</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发展为了人民、发展依靠人民、发展成果由人民共享</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共同富裕是社会主义的本质要求，是人民群众的共同期盼</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1016000" y="3937000"/>
            <a:ext cx="10160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我们党始终把（　）作为奋斗目标。</a:t>
            </a:r>
            <a:endParaRPr lang="en-US" sz="1800"/>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实现共产主义　　　　B. 人民对美好生活的向往</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C. 成为世界第一大党　　D. 实现经济高速增长</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第五章 · 答案</a:t>
            </a:r>
            <a:endParaRPr lang="en-US" sz="1100"/>
          </a:p>
        </p:txBody>
      </p:sp>
      <p:sp>
        <p:nvSpPr>
          <p:cNvPr id="3" name="AutoShape 3"/>
          <p:cNvSpPr/>
          <p:nvPr/>
        </p:nvSpPr>
        <p:spPr>
          <a:xfrm>
            <a:off x="1016000" y="1524000"/>
            <a:ext cx="10160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58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答案：B</a:t>
            </a:r>
            <a:endParaRPr lang="en-US" sz="1600"/>
          </a:p>
          <a:p>
            <a:pPr marL="0" indent="0" algn="l">
              <a:lnSpc>
                <a:spcPct val="158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解析：人民对美好生活的向往就是我们的奋斗目标。我们党干革命、搞建设、抓改革，都是为了让人民过上好日子。</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381000"/>
            <a:ext cx="10160000" cy="4445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第六章</a:t>
            </a:r>
            <a:endParaRPr lang="en-US" sz="1100"/>
          </a:p>
        </p:txBody>
      </p:sp>
      <p:sp>
        <p:nvSpPr>
          <p:cNvPr id="3" name="AutoShape 3"/>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全面深化改革开放</a:t>
            </a:r>
            <a:endParaRPr lang="en-US" sz="1100"/>
          </a:p>
        </p:txBody>
      </p:sp>
      <p:cxnSp>
        <p:nvCxnSpPr>
          <p:cNvPr id="4" name="Connector 4"/>
          <p:cNvCxnSpPr/>
          <p:nvPr/>
        </p:nvCxnSpPr>
        <p:spPr>
          <a:xfrm rot="-42969">
            <a:off x="1016040" y="13271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393700" y="1460500"/>
            <a:ext cx="11276965" cy="2286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a:t>
            </a:r>
            <a:endParaRPr lang="en-US" sz="1800"/>
          </a:p>
          <a:p>
            <a:pPr marL="0" indent="0" algn="l">
              <a:lnSpc>
                <a:spcPct val="142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改革开放是决定当代中国命运的</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关键一招</a:t>
            </a:r>
            <a:endPar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全面深化改革总目标：</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完善和发展中国特色社会主义制度，推进国家治理体系和治理能力现代化</a:t>
            </a:r>
            <a:endPar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正确处理改革、发展、稳定的关系</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393700" y="3937000"/>
            <a:ext cx="11276965" cy="2159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全面深化改革的总目标是（　）</a:t>
            </a:r>
            <a:endParaRPr lang="en-US" sz="1800"/>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实现共同富裕</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B. 完善和发展中国特色社会主义制度，推进国家治理体系和治理能力现代化</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C. 建设社会主义法治国家</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381000"/>
            <a:ext cx="10160000" cy="4445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第七章</a:t>
            </a:r>
            <a:endParaRPr lang="en-US" sz="1100"/>
          </a:p>
        </p:txBody>
      </p:sp>
      <p:sp>
        <p:nvSpPr>
          <p:cNvPr id="3" name="AutoShape 3"/>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推动高质量发展</a:t>
            </a:r>
            <a:endParaRPr lang="en-US" sz="1100"/>
          </a:p>
        </p:txBody>
      </p:sp>
      <p:cxnSp>
        <p:nvCxnSpPr>
          <p:cNvPr id="4" name="Connector 4"/>
          <p:cNvCxnSpPr/>
          <p:nvPr/>
        </p:nvCxnSpPr>
        <p:spPr>
          <a:xfrm rot="-42969">
            <a:off x="1016040" y="13271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1803400"/>
            <a:ext cx="10160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a:t>
            </a:r>
            <a:endParaRPr lang="en-US" sz="1800"/>
          </a:p>
          <a:p>
            <a:pPr marL="0" indent="0" algn="l">
              <a:lnSpc>
                <a:spcPct val="142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高质量发展是全面建设社会主义现代化国家的首要任务</a:t>
            </a:r>
            <a:endPar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新发展理念：</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创新、协调、绿色、开放、共享</a:t>
            </a:r>
            <a:endPar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创新是第一动力，协调是内在要求，绿色是必要条件，开放是必由之路，共享是根本目的</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新发展格局：以国内大循环为主体、国内国际双循环相互促进</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大力发展新质生产力</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1016000" y="4406900"/>
            <a:ext cx="10160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全面建设社会主义现代化国家的首要任务是（　）</a:t>
            </a:r>
            <a:endParaRPr lang="en-US" sz="1800"/>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高速增长　　B. 高质量发展</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C. 阶级斗争　　D. 对外开放</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第七章 · 答案</a:t>
            </a:r>
            <a:endParaRPr lang="en-US" sz="1100"/>
          </a:p>
        </p:txBody>
      </p:sp>
      <p:sp>
        <p:nvSpPr>
          <p:cNvPr id="3" name="AutoShape 3"/>
          <p:cNvSpPr/>
          <p:nvPr/>
        </p:nvSpPr>
        <p:spPr>
          <a:xfrm>
            <a:off x="1016000" y="1524000"/>
            <a:ext cx="1016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58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答案：B</a:t>
            </a:r>
            <a:endParaRPr lang="en-US" sz="1600"/>
          </a:p>
          <a:p>
            <a:pPr marL="0" indent="0" algn="l">
              <a:lnSpc>
                <a:spcPct val="158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高质量发展是全面建设社会主义现代化国家的首要任务</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。我国经济已由高速增长阶段转向高质量发展阶段。</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第六章 · 答案</a:t>
            </a:r>
            <a:endParaRPr lang="en-US" sz="1100"/>
          </a:p>
        </p:txBody>
      </p:sp>
      <p:sp>
        <p:nvSpPr>
          <p:cNvPr id="3" name="AutoShape 3"/>
          <p:cNvSpPr/>
          <p:nvPr/>
        </p:nvSpPr>
        <p:spPr>
          <a:xfrm>
            <a:off x="1016000" y="1524000"/>
            <a:ext cx="1016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58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答案：B</a:t>
            </a:r>
            <a:endParaRPr lang="en-US" sz="1600"/>
          </a:p>
          <a:p>
            <a:pPr marL="0" indent="0" algn="l">
              <a:lnSpc>
                <a:spcPct val="158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解析：全面深化改革总目标是</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完善和发展中国特色社会主义制度，推进国家治理体系和治理能力现代化</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。这是十八届三中全会提出的。</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381000"/>
            <a:ext cx="10160000" cy="4445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第八章</a:t>
            </a:r>
            <a:endParaRPr lang="en-US" sz="1100"/>
          </a:p>
        </p:txBody>
      </p:sp>
      <p:sp>
        <p:nvSpPr>
          <p:cNvPr id="3" name="AutoShape 3"/>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教育、科技、人才战略</a:t>
            </a:r>
            <a:endParaRPr lang="en-US" sz="1100"/>
          </a:p>
        </p:txBody>
      </p:sp>
      <p:cxnSp>
        <p:nvCxnSpPr>
          <p:cNvPr id="4" name="Connector 4"/>
          <p:cNvCxnSpPr/>
          <p:nvPr/>
        </p:nvCxnSpPr>
        <p:spPr>
          <a:xfrm rot="-42969">
            <a:off x="1016040" y="13271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1460500"/>
            <a:ext cx="10160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a:t>
            </a:r>
            <a:endParaRPr lang="en-US" sz="1800"/>
          </a:p>
          <a:p>
            <a:pPr marL="0" indent="0" algn="l">
              <a:lnSpc>
                <a:spcPct val="142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教育、科技、人才是全面建设社会主义现代化国家的</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基础性、战略性支撑</a:t>
            </a:r>
            <a:endPar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科技是第一生产力、人才是第一资源、创新是第一动力</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坚持教育优先发展、科技自立自强、人才引领驱动</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1016000" y="3937000"/>
            <a:ext cx="10160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全面建设社会主义现代化国家的基础性、战略性支撑是（　）</a:t>
            </a:r>
            <a:endParaRPr lang="en-US" sz="1800"/>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工业、农业、国防　　B. 教育、科技、人才</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C. 政治、经济、文化　　D. 改革、发展、稳定</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1905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第八、九章 · 答案</a:t>
            </a:r>
            <a:endParaRPr lang="en-US" sz="1100"/>
          </a:p>
        </p:txBody>
      </p:sp>
      <p:sp>
        <p:nvSpPr>
          <p:cNvPr id="3" name="AutoShape 3"/>
          <p:cNvSpPr/>
          <p:nvPr/>
        </p:nvSpPr>
        <p:spPr>
          <a:xfrm>
            <a:off x="255270" y="1079500"/>
            <a:ext cx="11834495" cy="1270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1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第8章答案：B</a:t>
            </a:r>
            <a:endParaRPr lang="en-US" sz="2100"/>
          </a:p>
          <a:p>
            <a:pPr marL="0" indent="0" algn="l">
              <a:lnSpc>
                <a:spcPct val="150000"/>
              </a:lnSpc>
            </a:pPr>
            <a:r>
              <a:rPr lang="en-US" sz="21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解析：教育、科技、人才是基础性、战略性支撑。</a:t>
            </a:r>
            <a:endParaRPr lang="en-US" sz="21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nvSpPr>
        <p:spPr>
          <a:xfrm>
            <a:off x="255270" y="3022600"/>
            <a:ext cx="11834495" cy="3175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1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第9章考点：</a:t>
            </a:r>
            <a:r>
              <a:rPr lang="en-US" sz="21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全过程人民民主是社会主义民主政治的本质属性，是</a:t>
            </a:r>
            <a:r>
              <a:rPr lang="en-US" sz="21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最广泛、最真实、最管用</a:t>
            </a:r>
            <a:r>
              <a:rPr lang="en-US" sz="21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的民主。</a:t>
            </a:r>
            <a:endParaRPr lang="en-US" sz="2100"/>
          </a:p>
          <a:p>
            <a:pPr marL="0" indent="0" algn="l">
              <a:lnSpc>
                <a:spcPct val="142000"/>
              </a:lnSpc>
            </a:pPr>
            <a:r>
              <a:rPr lang="en-US" sz="21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根本政治制度：人民代表大会制度</a:t>
            </a:r>
            <a:endParaRPr lang="en-US" sz="21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1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基本政治制度：中共领导的多党合作和政治协商制度、民族区域自治制度、基层群众自治制度</a:t>
            </a:r>
            <a:endParaRPr lang="en-US" sz="21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1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【第9章真题】</a:t>
            </a:r>
            <a:r>
              <a:rPr lang="en-US" sz="21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我国的根本政治制度是（　）</a:t>
            </a:r>
            <a:endParaRPr lang="en-US" sz="21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1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人民代表大会制度　　B. 多党合作制度</a:t>
            </a:r>
            <a:endParaRPr lang="en-US" sz="21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1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C. 民族区域自治制度　　D. 基层群众自治制度</a:t>
            </a:r>
            <a:endParaRPr lang="en-US" sz="21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381000"/>
            <a:ext cx="10160000" cy="4445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第十、十一章</a:t>
            </a:r>
            <a:endParaRPr lang="en-US" sz="1100"/>
          </a:p>
        </p:txBody>
      </p:sp>
      <p:sp>
        <p:nvSpPr>
          <p:cNvPr id="3" name="AutoShape 3"/>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全面依法治国 · 文化强国</a:t>
            </a:r>
            <a:endParaRPr lang="en-US" sz="1100"/>
          </a:p>
        </p:txBody>
      </p:sp>
      <p:cxnSp>
        <p:nvCxnSpPr>
          <p:cNvPr id="4" name="Connector 4"/>
          <p:cNvCxnSpPr/>
          <p:nvPr/>
        </p:nvCxnSpPr>
        <p:spPr>
          <a:xfrm rot="-42969">
            <a:off x="1016040" y="13271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508000" y="1587500"/>
            <a:ext cx="113665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第10章 依法治国：</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总目标是建设中国特色社会主义法治体系、建设社会主义法治国家</a:t>
            </a:r>
            <a:endParaRPr lang="en-US" sz="1800"/>
          </a:p>
          <a:p>
            <a:pPr marL="0" indent="0" algn="l">
              <a:lnSpc>
                <a:spcPct val="142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十六字方针：科学立法、严格执法、公正司法、全民守法</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第11章 文化强国：</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意识形态工作是为国家立心、为民族立魂的工作</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社会主义核心价值观：国家层面富强民主文明和谐；社会层面自由平等公正法治；公民层面爱国敬业诚信友善</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508000" y="4064000"/>
            <a:ext cx="113665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全面依法治国的总目标是（　）</a:t>
            </a:r>
            <a:endParaRPr lang="en-US" sz="1800"/>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建设中国特色社会主义法治体系，建设社会主义法治国家</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B. 维护社会稳定</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C. 保障人民权利</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第十至十三章 · 答案</a:t>
            </a:r>
            <a:endParaRPr lang="en-US" sz="1100"/>
          </a:p>
        </p:txBody>
      </p:sp>
      <p:sp>
        <p:nvSpPr>
          <p:cNvPr id="3" name="AutoShape 3"/>
          <p:cNvSpPr/>
          <p:nvPr/>
        </p:nvSpPr>
        <p:spPr>
          <a:xfrm>
            <a:off x="431800" y="1270000"/>
            <a:ext cx="11429365" cy="4826000"/>
          </a:xfrm>
          <a:prstGeom prst="rect">
            <a:avLst/>
          </a:prstGeom>
          <a:noFill/>
          <a:ln w="12700" cap="flat" cmpd="sng">
            <a:noFill/>
            <a:prstDash val="solid"/>
            <a:round/>
          </a:ln>
        </p:spPr>
        <p:txBody>
          <a:bodyPr vert="horz" wrap="square" lIns="0" tIns="0" rIns="0" bIns="0" rtlCol="0" anchor="ctr" anchorCtr="0"/>
          <a:lstStyle/>
          <a:p>
            <a:pPr marL="0" indent="0" algn="l">
              <a:lnSpc>
                <a:spcPct val="146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第10章答案：A</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——建设中国特色社会主义法治体系，建设社会主义法治国家。</a:t>
            </a:r>
            <a:endParaRPr lang="en-US" sz="1800"/>
          </a:p>
          <a:p>
            <a:pPr marL="0" indent="0" algn="l">
              <a:lnSpc>
                <a:spcPct val="146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第11章考点速记：</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牢牢掌握意识形态工作领导权；培育践行社会主义核心价值观；提升国家文化软实力。</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6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第12章 社会建设：</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就业是最大的民生</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；完善分配制度；健全社会保障体系；推进健康中国建设。</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6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第13章 生态文明：</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绿水青山就是金山银山；坚持人与自然和谐共生；积极稳妥推进碳达峰碳中和。</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6000"/>
              </a:lnSpc>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【自测】</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最大的民生是（　）　答案：</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就业</a:t>
            </a:r>
            <a:endPar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381000"/>
            <a:ext cx="10160000" cy="4445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第十四至十七章</a:t>
            </a:r>
            <a:endParaRPr lang="en-US" sz="1100"/>
          </a:p>
        </p:txBody>
      </p:sp>
      <p:sp>
        <p:nvSpPr>
          <p:cNvPr id="3" name="AutoShape 3"/>
          <p:cNvSpPr/>
          <p:nvPr/>
        </p:nvSpPr>
        <p:spPr>
          <a:xfrm>
            <a:off x="1016000" y="762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国家安全 · 国防 · 祖国统一 · 大国外交</a:t>
            </a:r>
            <a:endParaRPr lang="en-US" sz="1100"/>
          </a:p>
        </p:txBody>
      </p:sp>
      <p:cxnSp>
        <p:nvCxnSpPr>
          <p:cNvPr id="4" name="Connector 4"/>
          <p:cNvCxnSpPr/>
          <p:nvPr/>
        </p:nvCxnSpPr>
        <p:spPr>
          <a:xfrm rot="-42969">
            <a:off x="1016040" y="13271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419735" y="1460500"/>
            <a:ext cx="11466830" cy="2794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第14章 国家安全：</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总体国家安全观——以人民安全为</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宗旨</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，以政治安全为</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根本</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，以经济安全为</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基础</a:t>
            </a:r>
            <a:endParaRPr lang="en-US" sz="1800"/>
          </a:p>
          <a:p>
            <a:pPr marL="0" indent="0" algn="l">
              <a:lnSpc>
                <a:spcPct val="142000"/>
              </a:lnSpc>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第15章 国防军队：</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党对军队绝对领导</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是建军之本、强军之魂；强军目标：听党指挥、能打胜仗、作风优良</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第16章 祖国统一：</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"一国两制"前提是一个中国；两岸关系政治基础是</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一个中国原则和九二共识</a:t>
            </a:r>
            <a:endPar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第17章 大国外交：</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人类命运共同体内涵——持久和平、普遍安全、共同繁荣、开放包容、清洁美丽</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419735" y="4445000"/>
            <a:ext cx="11466830" cy="1651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总体国家安全观的宗旨是（　）</a:t>
            </a:r>
            <a:endParaRPr lang="en-US" sz="1800"/>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政治安全　　B. 人民安全　　C. 经济安全　　D. 国土安全</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第十四至十七章 · 答案</a:t>
            </a:r>
            <a:endParaRPr lang="en-US" sz="1100"/>
          </a:p>
        </p:txBody>
      </p:sp>
      <p:sp>
        <p:nvSpPr>
          <p:cNvPr id="3" name="AutoShape 3"/>
          <p:cNvSpPr/>
          <p:nvPr/>
        </p:nvSpPr>
        <p:spPr>
          <a:xfrm>
            <a:off x="1016000" y="1270000"/>
            <a:ext cx="10160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58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答案：B</a:t>
            </a:r>
            <a:endParaRPr lang="en-US" sz="1600"/>
          </a:p>
          <a:p>
            <a:pPr marL="0" indent="0" algn="l">
              <a:lnSpc>
                <a:spcPct val="158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解析：总体国家安全观以人民安全为</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宗旨</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，以政治安全为根本，以经济安全为基础。</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AutoShape 4"/>
          <p:cNvSpPr/>
          <p:nvPr/>
        </p:nvSpPr>
        <p:spPr>
          <a:xfrm>
            <a:off x="1016000" y="3429000"/>
            <a:ext cx="1016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第18章 全面从严治党（下页详讲）：</a:t>
            </a:r>
            <a:endParaRPr lang="en-US" sz="2000"/>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新时代党的建设总要求：把党的</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政治建设</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摆在首位</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勇于自我革命是党跳出历史周期率的</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第二个答案</a:t>
            </a:r>
            <a:endPar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
            <a:ext cx="10160000" cy="4445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2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第十八章</a:t>
            </a:r>
            <a:endParaRPr lang="en-US" sz="1100"/>
          </a:p>
        </p:txBody>
      </p:sp>
      <p:sp>
        <p:nvSpPr>
          <p:cNvPr id="3" name="AutoShape 3"/>
          <p:cNvSpPr/>
          <p:nvPr/>
        </p:nvSpPr>
        <p:spPr>
          <a:xfrm>
            <a:off x="1016000" y="4572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全面从严治党</a:t>
            </a:r>
            <a:endParaRPr lang="en-US" sz="1100"/>
          </a:p>
        </p:txBody>
      </p:sp>
      <p:cxnSp>
        <p:nvCxnSpPr>
          <p:cNvPr id="4" name="Connector 4"/>
          <p:cNvCxnSpPr/>
          <p:nvPr/>
        </p:nvCxnSpPr>
        <p:spPr>
          <a:xfrm rot="-42969">
            <a:off x="1016040" y="10223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483235" y="1155700"/>
            <a:ext cx="11238230" cy="2540000"/>
          </a:xfrm>
          <a:prstGeom prst="rect">
            <a:avLst/>
          </a:prstGeom>
          <a:noFill/>
          <a:ln w="12700" cap="flat" cmpd="sng">
            <a:noFill/>
            <a:prstDash val="solid"/>
            <a:round/>
          </a:ln>
        </p:spPr>
        <p:txBody>
          <a:bodyPr vert="horz" wrap="square" lIns="0" tIns="0" rIns="0" bIns="0" rtlCol="0" anchor="ctr" anchorCtr="0"/>
          <a:lstStyle/>
          <a:p>
            <a:pPr marL="0" indent="0" algn="l">
              <a:lnSpc>
                <a:spcPct val="146000"/>
              </a:lnSpc>
              <a:defRPr/>
            </a:pPr>
            <a:r>
              <a:rPr lang="en-US" sz="20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考点：</a:t>
            </a:r>
            <a:endParaRPr lang="en-US" sz="1800"/>
          </a:p>
          <a:p>
            <a:pPr marL="0" indent="0" algn="l">
              <a:lnSpc>
                <a:spcPct val="146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全面从严治党是新时代党的建设</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鲜明主题</a:t>
            </a:r>
            <a:endPar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6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把党的</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政治建设</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摆在首位——政治建设是党的根本性建设</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6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勇于自我革命是党跳出治乱兴衰历史周期率的</a:t>
            </a:r>
            <a:r>
              <a:rPr lang="en-US" sz="20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第二个答案</a:t>
            </a: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（第一个答案是让人民监督政府）</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6000"/>
              </a:lnSpc>
            </a:pPr>
            <a:r>
              <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不敢腐、不能腐、不想腐一体推进</a:t>
            </a:r>
            <a:endParaRPr lang="en-US" sz="20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483235" y="3886200"/>
            <a:ext cx="11238230" cy="1905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【真题】</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党的根本性建设是（　）</a:t>
            </a:r>
            <a:endParaRPr lang="en-US" sz="1800"/>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A. 思想建设　　B. 政治建设　　C. 组织建设　　D. 作风建设</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第三部分 · 第十八章 · 答案</a:t>
            </a:r>
            <a:endParaRPr lang="en-US" sz="1100"/>
          </a:p>
        </p:txBody>
      </p:sp>
      <p:sp>
        <p:nvSpPr>
          <p:cNvPr id="3" name="AutoShape 3"/>
          <p:cNvSpPr/>
          <p:nvPr/>
        </p:nvSpPr>
        <p:spPr>
          <a:xfrm>
            <a:off x="1016000" y="1524000"/>
            <a:ext cx="1016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58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答案：B</a:t>
            </a:r>
            <a:endParaRPr lang="en-US" sz="1600"/>
          </a:p>
          <a:p>
            <a:pPr marL="0" indent="0" algn="l">
              <a:lnSpc>
                <a:spcPct val="158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解析：</a:t>
            </a:r>
            <a:r>
              <a:rPr lang="en-US" sz="24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党的政治建设是党的根本性建设</a:t>
            </a: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，决定党的建设方向和效果。思想建设是党的基础性建设。</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381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时事政治 · 约7分</a:t>
            </a:r>
            <a:endParaRPr lang="en-US" sz="1100"/>
          </a:p>
        </p:txBody>
      </p:sp>
      <p:sp>
        <p:nvSpPr>
          <p:cNvPr id="3" name="AutoShape 3"/>
          <p:cNvSpPr/>
          <p:nvPr/>
        </p:nvSpPr>
        <p:spPr>
          <a:xfrm>
            <a:off x="1016000" y="4191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2026年时事政治高频考点</a:t>
            </a:r>
            <a:endParaRPr lang="en-US" sz="1100"/>
          </a:p>
        </p:txBody>
      </p:sp>
      <p:cxnSp>
        <p:nvCxnSpPr>
          <p:cNvPr id="4" name="Connector 4"/>
          <p:cNvCxnSpPr/>
          <p:nvPr/>
        </p:nvCxnSpPr>
        <p:spPr>
          <a:xfrm rot="-42969">
            <a:off x="1016040" y="11747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737235" y="1638300"/>
            <a:ext cx="11086465" cy="4318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8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国内重点：</a:t>
            </a:r>
            <a:endParaRPr lang="en-US" sz="1600"/>
          </a:p>
          <a:p>
            <a:pPr marL="0" indent="0" algn="l">
              <a:lnSpc>
                <a:spcPct val="142000"/>
              </a:lnSpc>
            </a:pP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2026年全国两会：审查批准</a:t>
            </a:r>
            <a:r>
              <a:rPr lang="en-US" sz="18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"十五五"规划纲要</a:t>
            </a: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；GDP增长预期目标4.5%—5%</a:t>
            </a:r>
            <a:endPar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18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二十届四中全会</a:t>
            </a: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：研究推进中国式现代化、部署"十五五"规划</a:t>
            </a:r>
            <a:endPar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海南自贸港全岛封关运作：</a:t>
            </a:r>
            <a:r>
              <a:rPr lang="en-US" sz="18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"一线放开、二线管住、岛内自由"</a:t>
            </a:r>
            <a:endParaRPr lang="en-US" sz="18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我国世界遗产总数达</a:t>
            </a:r>
            <a:r>
              <a:rPr lang="en-US" sz="18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60项</a:t>
            </a: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（2025年西夏陵入选）</a:t>
            </a:r>
            <a:endPar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2026年是中国共产党成立</a:t>
            </a:r>
            <a:r>
              <a:rPr lang="en-US" sz="18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105周年</a:t>
            </a:r>
            <a:endParaRPr lang="en-US" sz="1800" b="1"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第六个全民国家安全教育日主题：贯彻总体国家安全观</a:t>
            </a:r>
            <a:endPar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全国科技活动周主题：科技赋能中国式现代化</a:t>
            </a:r>
            <a:endPar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国际重点：</a:t>
            </a:r>
            <a:endParaRPr lang="en-US" sz="18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三大全球倡议：全球发展倡议、全球安全倡议、全球文明倡议</a:t>
            </a:r>
            <a:endPar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人类命运共同体内涵：持久和平、普遍安全、共同繁荣、开放包容、清洁美丽</a:t>
            </a:r>
            <a:endPar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"一带一路"原则：共商、共建、共享</a:t>
            </a:r>
            <a:endPar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42000"/>
              </a:lnSpc>
            </a:pPr>
            <a:r>
              <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外交政策：独立自主的和平外交政策；和平共处五项原则为基本准则</a:t>
            </a:r>
            <a:endParaRPr lang="en-US" sz="18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时事政治 · 自测</a:t>
            </a:r>
            <a:endParaRPr lang="en-US" sz="1100"/>
          </a:p>
        </p:txBody>
      </p:sp>
      <p:sp>
        <p:nvSpPr>
          <p:cNvPr id="3" name="AutoShape 3"/>
          <p:cNvSpPr/>
          <p:nvPr/>
        </p:nvSpPr>
        <p:spPr>
          <a:xfrm>
            <a:off x="1016000" y="889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时政速测：你能答对几道？</a:t>
            </a:r>
            <a:endParaRPr lang="en-US" sz="1100"/>
          </a:p>
        </p:txBody>
      </p:sp>
      <p:cxnSp>
        <p:nvCxnSpPr>
          <p:cNvPr id="4" name="Connector 4"/>
          <p:cNvCxnSpPr/>
          <p:nvPr/>
        </p:nvCxnSpPr>
        <p:spPr>
          <a:xfrm rot="-42969">
            <a:off x="1016040" y="1517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1016000" y="1778000"/>
            <a:ext cx="10160000" cy="4572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1. 2026年全国两会审查批准的重要文件是？</a:t>
            </a: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——"十五五"规划纲要</a:t>
            </a:r>
            <a:endParaRPr lang="en-US" sz="1800"/>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2. 海南自贸港封关运作模式是？</a:t>
            </a: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——一线放开、二线管住、岛内自由</a:t>
            </a:r>
            <a:endPar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3. 我国世界遗产总数是多少？</a:t>
            </a: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——60项</a:t>
            </a:r>
            <a:endPar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4. 2026年是中国共产党成立多少周年？</a:t>
            </a: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——105周年</a:t>
            </a:r>
            <a:endPar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5. 总体国家安全观的宗旨是？</a:t>
            </a: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——人民安全</a:t>
            </a:r>
            <a:endPar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6. 三大全球倡议是？</a:t>
            </a: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——发展、安全、文明倡议</a:t>
            </a:r>
            <a:endPar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7. "一带一路"建设原则？</a:t>
            </a: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——共商共建共享</a:t>
            </a:r>
            <a:endPar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8. 我国外交政策基本立场？</a:t>
            </a: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——独立自主的和平外交政策</a:t>
            </a:r>
            <a:endPar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5F0EB">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508000"/>
            <a:ext cx="10160000" cy="508000"/>
          </a:xfrm>
          <a:prstGeom prst="rect">
            <a:avLst/>
          </a:prstGeom>
          <a:noFill/>
          <a:ln w="12700" cap="flat" cmpd="sng">
            <a:noFill/>
            <a:prstDash val="solid"/>
            <a:round/>
          </a:ln>
        </p:spPr>
        <p:txBody>
          <a:bodyPr vert="horz" wrap="none" lIns="0" tIns="0" rIns="0" bIns="0" rtlCol="0" anchor="ctr" anchorCtr="0"/>
          <a:lstStyle/>
          <a:p>
            <a:pPr marL="0" indent="0" algn="l">
              <a:lnSpc>
                <a:spcPct val="125000"/>
              </a:lnSpc>
              <a:defRPr/>
            </a:pPr>
            <a:r>
              <a:rPr lang="en-US" sz="1300" b="0"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考前冲刺</a:t>
            </a:r>
            <a:endParaRPr lang="en-US" sz="1100"/>
          </a:p>
        </p:txBody>
      </p:sp>
      <p:sp>
        <p:nvSpPr>
          <p:cNvPr id="3" name="AutoShape 3"/>
          <p:cNvSpPr/>
          <p:nvPr/>
        </p:nvSpPr>
        <p:spPr>
          <a:xfrm>
            <a:off x="1016000" y="889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B2B2B"/>
                </a:solidFill>
                <a:latin typeface="微软雅黑" panose="020B0503020204020204" charset="-122"/>
                <a:ea typeface="微软雅黑" panose="020B0503020204020204" charset="-122"/>
                <a:cs typeface="微软雅黑" panose="020B0503020204020204" charset="-122"/>
                <a:sym typeface="微软雅黑" panose="020B0503020204020204" charset="-122"/>
              </a:rPr>
              <a:t>最后冲刺：怎么复习最高效？</a:t>
            </a:r>
            <a:endParaRPr lang="en-US" sz="1100"/>
          </a:p>
        </p:txBody>
      </p:sp>
      <p:cxnSp>
        <p:nvCxnSpPr>
          <p:cNvPr id="4" name="Connector 4"/>
          <p:cNvCxnSpPr/>
          <p:nvPr/>
        </p:nvCxnSpPr>
        <p:spPr>
          <a:xfrm rot="-42969">
            <a:off x="1016040" y="1644650"/>
            <a:ext cx="1016000" cy="12700"/>
          </a:xfrm>
          <a:prstGeom prst="straightConnector1">
            <a:avLst/>
          </a:prstGeom>
          <a:solidFill>
            <a:srgbClr val="DEE0E3">
              <a:alpha val="100000"/>
            </a:srgbClr>
          </a:solidFill>
          <a:ln w="25400" cap="flat" cmpd="sng">
            <a:solidFill>
              <a:srgbClr val="8B2E2E">
                <a:alpha val="100000"/>
              </a:srgbClr>
            </a:solidFill>
            <a:prstDash val="solid"/>
            <a:round/>
            <a:headEnd type="none" w="lg" len="lg"/>
            <a:tailEnd type="none" w="lg" len="lg"/>
          </a:ln>
        </p:spPr>
      </p:cxnSp>
      <p:sp>
        <p:nvSpPr>
          <p:cNvPr id="5" name="AutoShape 5"/>
          <p:cNvSpPr/>
          <p:nvPr/>
        </p:nvSpPr>
        <p:spPr>
          <a:xfrm>
            <a:off x="661035" y="1460500"/>
            <a:ext cx="5663565" cy="406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选择题（80分）</a:t>
            </a:r>
            <a:endParaRPr lang="en-US" sz="1800"/>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记关键词：根本、最、核心、本质、标志</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相似概念对比：宗旨vs根本、本质vs性质</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时政题考前一周集中突击</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多做真题，找出题规律</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6922135" y="1765300"/>
            <a:ext cx="5180965" cy="406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2400" b="1" i="0" u="none" strike="noStrike">
                <a:solidFill>
                  <a:srgbClr val="8B2E2E"/>
                </a:solidFill>
                <a:latin typeface="微软雅黑" panose="020B0503020204020204" charset="-122"/>
                <a:ea typeface="微软雅黑" panose="020B0503020204020204" charset="-122"/>
                <a:cs typeface="微软雅黑" panose="020B0503020204020204" charset="-122"/>
                <a:sym typeface="微软雅黑" panose="020B0503020204020204" charset="-122"/>
              </a:rPr>
              <a:t>主观题（70分）</a:t>
            </a:r>
            <a:endParaRPr lang="en-US" sz="1800"/>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辨析题：先判断对错，再说理由</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简答题：分点作答，关键词前置</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论述题：原理+联系实际+总结</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字迹工整，不留空白</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50000"/>
              </a:lnSpc>
            </a:pPr>
            <a:r>
              <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 必背大题至少过3遍</a:t>
            </a:r>
            <a:endParaRPr lang="en-US" sz="24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8B2E2E">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2540000"/>
            <a:ext cx="10160000" cy="1016000"/>
          </a:xfrm>
          <a:prstGeom prst="rect">
            <a:avLst/>
          </a:prstGeom>
          <a:noFill/>
          <a:ln w="12700" cap="flat" cmpd="sng">
            <a:noFill/>
            <a:prstDash val="solid"/>
            <a:round/>
          </a:ln>
        </p:spPr>
        <p:txBody>
          <a:bodyPr vert="horz" wrap="none" lIns="0" tIns="0" rIns="0" bIns="0" rtlCol="0" anchor="ctr" anchorCtr="0"/>
          <a:lstStyle/>
          <a:p>
            <a:pPr marL="0" indent="0" algn="ctr">
              <a:lnSpc>
                <a:spcPct val="125000"/>
              </a:lnSpc>
              <a:defRPr/>
            </a:pPr>
            <a:r>
              <a:rPr lang="en-US" sz="6600" b="1" i="0" u="none" strike="noStrike">
                <a:solidFill>
                  <a:srgbClr val="FFFF00"/>
                </a:solidFill>
                <a:latin typeface="微软雅黑" panose="020B0503020204020204" charset="-122"/>
                <a:ea typeface="微软雅黑" panose="020B0503020204020204" charset="-122"/>
                <a:cs typeface="微软雅黑" panose="020B0503020204020204" charset="-122"/>
                <a:sym typeface="微软雅黑" panose="020B0503020204020204" charset="-122"/>
              </a:rPr>
              <a:t>祝各位同学考试顺利！</a:t>
            </a:r>
            <a:endParaRPr lang="en-US" sz="6600" b="1" i="0" u="none" strike="noStrike">
              <a:solidFill>
                <a:srgbClr val="FFFF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3" name="Connector 3"/>
          <p:cNvCxnSpPr/>
          <p:nvPr/>
        </p:nvCxnSpPr>
        <p:spPr>
          <a:xfrm rot="-17188">
            <a:off x="4826016" y="3930650"/>
            <a:ext cx="2540000" cy="12700"/>
          </a:xfrm>
          <a:prstGeom prst="straightConnector1">
            <a:avLst/>
          </a:prstGeom>
          <a:solidFill>
            <a:srgbClr val="DEE0E3">
              <a:alpha val="100000"/>
            </a:srgbClr>
          </a:solidFill>
          <a:ln w="12700" cap="flat" cmpd="sng">
            <a:solidFill>
              <a:srgbClr val="FFFFFF">
                <a:alpha val="50000"/>
              </a:srgbClr>
            </a:solidFill>
            <a:prstDash val="solid"/>
            <a:round/>
            <a:headEnd type="none" w="med" len="med"/>
            <a:tailEnd type="none" w="med" len="med"/>
          </a:ln>
        </p:spPr>
      </p:cxnSp>
      <p:sp>
        <p:nvSpPr>
          <p:cNvPr id="4" name="AutoShape 4"/>
          <p:cNvSpPr/>
          <p:nvPr/>
        </p:nvSpPr>
        <p:spPr>
          <a:xfrm>
            <a:off x="1016000" y="4191000"/>
            <a:ext cx="1016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0" i="0" u="none" strike="noStrike">
                <a:solidFill>
                  <a:srgbClr val="FFFF00">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坚持就是胜利，付出必有回报</a:t>
            </a:r>
            <a:endParaRPr lang="en-US" sz="3600" b="0" i="0" u="none" strike="noStrike">
              <a:solidFill>
                <a:srgbClr val="FFFF00">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DIAGRAM_VIRTUALLY_FRAME" val="{&quot;height&quot;:182,&quot;left&quot;:32,&quot;top&quot;:120,&quot;width&quot;:879}"/>
</p:tagLst>
</file>

<file path=ppt/tags/tag2.xml><?xml version="1.0" encoding="utf-8"?>
<p:tagLst xmlns:p="http://schemas.openxmlformats.org/presentationml/2006/main">
  <p:tag name="KSO_WM_DIAGRAM_VIRTUALLY_FRAME" val="{&quot;height&quot;:182,&quot;left&quot;:32,&quot;top&quot;:120,&quot;width&quot;:879}"/>
</p:tagLst>
</file>

<file path=ppt/tags/tag3.xml><?xml version="1.0" encoding="utf-8"?>
<p:tagLst xmlns:p="http://schemas.openxmlformats.org/presentationml/2006/main">
  <p:tag name="KSO_WM_DIAGRAM_VIRTUALLY_FRAME" val="{&quot;height&quot;:182,&quot;left&quot;:32,&quot;top&quot;:120,&quot;width&quot;:879}"/>
</p:tagLst>
</file>

<file path=ppt/tags/tag4.xml><?xml version="1.0" encoding="utf-8"?>
<p:tagLst xmlns:p="http://schemas.openxmlformats.org/presentationml/2006/main">
  <p:tag name="KSO_WM_DIAGRAM_VIRTUALLY_FRAME" val="{&quot;height&quot;:182,&quot;left&quot;:32,&quot;top&quot;:120,&quot;width&quot;:879}"/>
</p:tagLst>
</file>

<file path=ppt/tags/tag5.xml><?xml version="1.0" encoding="utf-8"?>
<p:tagLst xmlns:p="http://schemas.openxmlformats.org/presentationml/2006/main">
  <p:tag name="KSO_WM_DIAGRAM_VIRTUALLY_FRAME" val="{&quot;height&quot;:176,&quot;left&quot;:28.05,&quot;top&quot;:111,&quot;width&quot;:962.9}"/>
</p:tagLst>
</file>

<file path=ppt/tags/tag6.xml><?xml version="1.0" encoding="utf-8"?>
<p:tagLst xmlns:p="http://schemas.openxmlformats.org/presentationml/2006/main">
  <p:tag name="KSO_WM_DIAGRAM_VIRTUALLY_FRAME" val="{&quot;height&quot;:176,&quot;left&quot;:28.05,&quot;top&quot;:111,&quot;width&quot;:962.9}"/>
</p:tagLst>
</file>

<file path=ppt/tags/tag7.xml><?xml version="1.0" encoding="utf-8"?>
<p:tagLst xmlns:p="http://schemas.openxmlformats.org/presentationml/2006/main">
  <p:tag name="KSO_WM_DIAGRAM_VIRTUALLY_FRAME" val="{&quot;height&quot;:176,&quot;left&quot;:28.05,&quot;top&quot;:111,&quot;width&quot;:962.9}"/>
</p:tagLst>
</file>

<file path=ppt/tags/tag8.xml><?xml version="1.0" encoding="utf-8"?>
<p:tagLst xmlns:p="http://schemas.openxmlformats.org/presentationml/2006/main">
  <p:tag name="KSO_WM_DIAGRAM_VIRTUALLY_FRAME" val="{&quot;height&quot;:176,&quot;left&quot;:28.05,&quot;top&quot;:111,&quot;width&quot;:962.9}"/>
</p:tagLst>
</file>

<file path=ppt/tags/tag9.xml><?xml version="1.0" encoding="utf-8"?>
<p:tagLst xmlns:p="http://schemas.openxmlformats.org/presentationml/2006/main">
  <p:tag name="KSO_WM_DIAGRAM_VIRTUALLY_FRAME" val="{&quot;height&quot;:176,&quot;left&quot;:28.05,&quot;top&quot;:111,&quot;width&quot;:962.9}"/>
</p:tagLst>
</file>

<file path=ppt/tags/tag10.xml><?xml version="1.0" encoding="utf-8"?>
<p:tagLst xmlns:p="http://schemas.openxmlformats.org/presentationml/2006/main">
  <p:tag name="KSO_WM_DIAGRAM_VIRTUALLY_FRAME" val="{&quot;height&quot;:176,&quot;left&quot;:28.05,&quot;top&quot;:111,&quot;width&quot;:962.9}"/>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12894</Words>
  <Application>WPS 演示</Application>
  <PresentationFormat/>
  <Paragraphs>892</Paragraphs>
  <Slides>76</Slides>
  <Notes>0</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76</vt:i4>
      </vt:variant>
    </vt:vector>
  </HeadingPairs>
  <TitlesOfParts>
    <vt:vector size="90" baseType="lpstr">
      <vt:lpstr>Arial</vt:lpstr>
      <vt:lpstr>宋体</vt:lpstr>
      <vt:lpstr>Wingdings</vt:lpstr>
      <vt:lpstr>Arial</vt:lpstr>
      <vt:lpstr>Noto Serif SC</vt:lpstr>
      <vt:lpstr>Segoe Print</vt:lpstr>
      <vt:lpstr>Noto Sans SC</vt:lpstr>
      <vt:lpstr>微软雅黑</vt:lpstr>
      <vt:lpstr>Arial Unicode MS</vt:lpstr>
      <vt:lpstr>Noto Sans SC</vt:lpstr>
      <vt:lpstr>Noto Serif SC</vt:lpstr>
      <vt:lpstr>Office 主题​​</vt:lpstr>
      <vt:lpstr>默认主题</vt:lpstr>
      <vt:lpstr>1_默认主题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SSSSSSSIMON－</cp:lastModifiedBy>
  <cp:revision>9</cp:revision>
  <dcterms:created xsi:type="dcterms:W3CDTF">2026-09-29T14:12:00Z</dcterms:created>
  <dcterms:modified xsi:type="dcterms:W3CDTF">2026-10-10T08:33:21Z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{"Label":"1","ContentProducer":"001191110102MACQD9K64010000","ProduceID":"7690959006743907575","ReservedCode1":"","ContentPropagator":"","PropagateID":"","ReservedCode2":""}</vt:lpwstr>
  </property>
  <property fmtid="{D5CDD505-2E9C-101B-9397-08002B2CF9AE}" pid="3" name="ICV">
    <vt:lpwstr>5A6C65DCDD1D4B018B86CA53A9825C92_12</vt:lpwstr>
  </property>
  <property fmtid="{D5CDD505-2E9C-101B-9397-08002B2CF9AE}" pid="4" name="KSOProductBuildVer">
    <vt:lpwstr>2052-12.1.0.28505</vt:lpwstr>
  </property>
</Properties>
</file>